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5533de63a4bca" /><Relationship Type="http://schemas.openxmlformats.org/officeDocument/2006/relationships/extended-properties" Target="/docProps/app.xml" Id="Rbadfaeb6d07f450b" /><Relationship Type="http://schemas.openxmlformats.org/officeDocument/2006/relationships/officeDocument" Target="/ppt/presentation.xml" Id="R1b2ed75da334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bb82b4fc6144de"/>
  </p:sldMasterIdLst>
  <p:notesMasterIdLst>
    <p:notesMasterId xmlns:r="http://schemas.openxmlformats.org/officeDocument/2006/relationships" r:id="R91b4034249594d12"/>
  </p:notesMasterIdLst>
  <p:sldIdLst>
    <p:sldId xmlns:r="http://schemas.openxmlformats.org/officeDocument/2006/relationships" id="256" r:id="R57fb5a9421634c11"/>
    <p:sldId xmlns:r="http://schemas.openxmlformats.org/officeDocument/2006/relationships" id="257" r:id="R545e23f5f91f4ffb"/>
    <p:sldId xmlns:r="http://schemas.openxmlformats.org/officeDocument/2006/relationships" id="258" r:id="Re5288aca40604d39"/>
    <p:sldId xmlns:r="http://schemas.openxmlformats.org/officeDocument/2006/relationships" id="259" r:id="R269b2673d0c14254"/>
    <p:sldId xmlns:r="http://schemas.openxmlformats.org/officeDocument/2006/relationships" id="260" r:id="R5218ef3c72d549fa"/>
    <p:sldId xmlns:r="http://schemas.openxmlformats.org/officeDocument/2006/relationships" id="261" r:id="Rc83a29660acf41a3"/>
    <p:sldId xmlns:r="http://schemas.openxmlformats.org/officeDocument/2006/relationships" id="262" r:id="Re76cf1f99707413f"/>
    <p:sldId xmlns:r="http://schemas.openxmlformats.org/officeDocument/2006/relationships" id="263" r:id="R2bd2a531e1b64cca"/>
    <p:sldId xmlns:r="http://schemas.openxmlformats.org/officeDocument/2006/relationships" id="264" r:id="Re47b333b22264963"/>
    <p:sldId xmlns:r="http://schemas.openxmlformats.org/officeDocument/2006/relationships" id="265" r:id="R44e230146d884c2e"/>
    <p:sldId xmlns:r="http://schemas.openxmlformats.org/officeDocument/2006/relationships" id="266" r:id="R4fc84f9fd7ca40b0"/>
    <p:sldId xmlns:r="http://schemas.openxmlformats.org/officeDocument/2006/relationships" id="267" r:id="R73663e2b5bd64b03"/>
    <p:sldId xmlns:r="http://schemas.openxmlformats.org/officeDocument/2006/relationships" id="268" r:id="Rab9afe033ac7434a"/>
    <p:sldId xmlns:r="http://schemas.openxmlformats.org/officeDocument/2006/relationships" id="269" r:id="R7d86ca9a3808420f"/>
    <p:sldId xmlns:r="http://schemas.openxmlformats.org/officeDocument/2006/relationships" id="270" r:id="R58187802fa7849fa"/>
    <p:sldId xmlns:r="http://schemas.openxmlformats.org/officeDocument/2006/relationships" id="271" r:id="R280daf53074748fa"/>
    <p:sldId xmlns:r="http://schemas.openxmlformats.org/officeDocument/2006/relationships" id="272" r:id="R9d45372000604fbb"/>
    <p:sldId xmlns:r="http://schemas.openxmlformats.org/officeDocument/2006/relationships" id="273" r:id="R33367bec79fd4fae"/>
    <p:sldId xmlns:r="http://schemas.openxmlformats.org/officeDocument/2006/relationships" id="274" r:id="R0daec5532ed64603"/>
    <p:sldId xmlns:r="http://schemas.openxmlformats.org/officeDocument/2006/relationships" id="275" r:id="R3a4b29f5a668497d"/>
    <p:sldId xmlns:r="http://schemas.openxmlformats.org/officeDocument/2006/relationships" id="276" r:id="R7a9423a582784415"/>
    <p:sldId xmlns:r="http://schemas.openxmlformats.org/officeDocument/2006/relationships" id="277" r:id="R65002857dc284478"/>
    <p:sldId xmlns:r="http://schemas.openxmlformats.org/officeDocument/2006/relationships" id="278" r:id="R2a291d3a34d2481e"/>
    <p:sldId xmlns:r="http://schemas.openxmlformats.org/officeDocument/2006/relationships" id="279" r:id="R8d0b7037352b48c0"/>
    <p:sldId xmlns:r="http://schemas.openxmlformats.org/officeDocument/2006/relationships" id="280" r:id="R9947508ce0b2453f"/>
    <p:sldId xmlns:r="http://schemas.openxmlformats.org/officeDocument/2006/relationships" id="281" r:id="Raa972348360f4d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b7e47dcaf488a" /><Relationship Type="http://schemas.openxmlformats.org/officeDocument/2006/relationships/slideMaster" Target="/ppt/slideMasters/slideMaster1.xml" Id="R4fbb82b4fc6144de" /><Relationship Type="http://schemas.openxmlformats.org/officeDocument/2006/relationships/notesMaster" Target="/ppt/notesMasters/notesMaster1.xml" Id="R91b4034249594d12" /><Relationship Type="http://schemas.openxmlformats.org/officeDocument/2006/relationships/presProps" Target="/ppt/presProps.xml" Id="Rf50c82140d6f4a3e" /><Relationship Type="http://schemas.openxmlformats.org/officeDocument/2006/relationships/tableStyles" Target="/ppt/tableStyles.xml" Id="R356b3348efb4465b" /><Relationship Type="http://schemas.openxmlformats.org/officeDocument/2006/relationships/slide" Target="/ppt/slides/slide1.xml" Id="R57fb5a9421634c11" /><Relationship Type="http://schemas.openxmlformats.org/officeDocument/2006/relationships/slide" Target="/ppt/slides/slide2.xml" Id="R545e23f5f91f4ffb" /><Relationship Type="http://schemas.openxmlformats.org/officeDocument/2006/relationships/slide" Target="/ppt/slides/slide3.xml" Id="Re5288aca40604d39" /><Relationship Type="http://schemas.openxmlformats.org/officeDocument/2006/relationships/slide" Target="/ppt/slides/slide4.xml" Id="R269b2673d0c14254" /><Relationship Type="http://schemas.openxmlformats.org/officeDocument/2006/relationships/slide" Target="/ppt/slides/slide5.xml" Id="R5218ef3c72d549fa" /><Relationship Type="http://schemas.openxmlformats.org/officeDocument/2006/relationships/slide" Target="/ppt/slides/slide6.xml" Id="Rc83a29660acf41a3" /><Relationship Type="http://schemas.openxmlformats.org/officeDocument/2006/relationships/slide" Target="/ppt/slides/slide7.xml" Id="Re76cf1f99707413f" /><Relationship Type="http://schemas.openxmlformats.org/officeDocument/2006/relationships/slide" Target="/ppt/slides/slide8.xml" Id="R2bd2a531e1b64cca" /><Relationship Type="http://schemas.openxmlformats.org/officeDocument/2006/relationships/slide" Target="/ppt/slides/slide9.xml" Id="Re47b333b22264963" /><Relationship Type="http://schemas.openxmlformats.org/officeDocument/2006/relationships/slide" Target="/ppt/slides/slide10.xml" Id="R44e230146d884c2e" /><Relationship Type="http://schemas.openxmlformats.org/officeDocument/2006/relationships/slide" Target="/ppt/slides/slide11.xml" Id="R4fc84f9fd7ca40b0" /><Relationship Type="http://schemas.openxmlformats.org/officeDocument/2006/relationships/slide" Target="/ppt/slides/slide12.xml" Id="R73663e2b5bd64b03" /><Relationship Type="http://schemas.openxmlformats.org/officeDocument/2006/relationships/slide" Target="/ppt/slides/slide13.xml" Id="Rab9afe033ac7434a" /><Relationship Type="http://schemas.openxmlformats.org/officeDocument/2006/relationships/slide" Target="/ppt/slides/slide14.xml" Id="R7d86ca9a3808420f" /><Relationship Type="http://schemas.openxmlformats.org/officeDocument/2006/relationships/slide" Target="/ppt/slides/slide15.xml" Id="R58187802fa7849fa" /><Relationship Type="http://schemas.openxmlformats.org/officeDocument/2006/relationships/slide" Target="/ppt/slides/slide16.xml" Id="R280daf53074748fa" /><Relationship Type="http://schemas.openxmlformats.org/officeDocument/2006/relationships/slide" Target="/ppt/slides/slide17.xml" Id="R9d45372000604fbb" /><Relationship Type="http://schemas.openxmlformats.org/officeDocument/2006/relationships/slide" Target="/ppt/slides/slide18.xml" Id="R33367bec79fd4fae" /><Relationship Type="http://schemas.openxmlformats.org/officeDocument/2006/relationships/slide" Target="/ppt/slides/slide19.xml" Id="R0daec5532ed64603" /><Relationship Type="http://schemas.openxmlformats.org/officeDocument/2006/relationships/slide" Target="/ppt/slides/slide20.xml" Id="R3a4b29f5a668497d" /><Relationship Type="http://schemas.openxmlformats.org/officeDocument/2006/relationships/slide" Target="/ppt/slides/slide21.xml" Id="R7a9423a582784415" /><Relationship Type="http://schemas.openxmlformats.org/officeDocument/2006/relationships/slide" Target="/ppt/slides/slide22.xml" Id="R65002857dc284478" /><Relationship Type="http://schemas.openxmlformats.org/officeDocument/2006/relationships/slide" Target="/ppt/slides/slide23.xml" Id="R2a291d3a34d2481e" /><Relationship Type="http://schemas.openxmlformats.org/officeDocument/2006/relationships/slide" Target="/ppt/slides/slide24.xml" Id="R8d0b7037352b48c0" /><Relationship Type="http://schemas.openxmlformats.org/officeDocument/2006/relationships/slide" Target="/ppt/slides/slide25.xml" Id="R9947508ce0b2453f" /><Relationship Type="http://schemas.openxmlformats.org/officeDocument/2006/relationships/slide" Target="/ppt/slides/slide26.xml" Id="Raa972348360f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e08135f16642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8a7dbec4c74e47" /><Relationship Type="http://schemas.openxmlformats.org/officeDocument/2006/relationships/notesMaster" Target="/ppt/notesMasters/notesMaster1.xml" Id="R19a068d1fd6d4a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5a29dfe0b84b83" /><Relationship Type="http://schemas.openxmlformats.org/officeDocument/2006/relationships/notesMaster" Target="/ppt/notesMasters/notesMaster1.xml" Id="R3781abd148674b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e990db611b4ded" /><Relationship Type="http://schemas.openxmlformats.org/officeDocument/2006/relationships/notesMaster" Target="/ppt/notesMasters/notesMaster1.xml" Id="R16e0d2c0eaa046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45cde0265f431c" /><Relationship Type="http://schemas.openxmlformats.org/officeDocument/2006/relationships/notesMaster" Target="/ppt/notesMasters/notesMaster1.xml" Id="R725bed2021ac4d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3d2e981ffd40c0" /><Relationship Type="http://schemas.openxmlformats.org/officeDocument/2006/relationships/notesMaster" Target="/ppt/notesMasters/notesMaster1.xml" Id="R6e0b187090cb40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e8de0fa4344c56" /><Relationship Type="http://schemas.openxmlformats.org/officeDocument/2006/relationships/notesMaster" Target="/ppt/notesMasters/notesMaster1.xml" Id="R56c9f1f676444b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5a5431f9fb4a70" /><Relationship Type="http://schemas.openxmlformats.org/officeDocument/2006/relationships/notesMaster" Target="/ppt/notesMasters/notesMaster1.xml" Id="R98fa5141f7b048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e64a072fdd42c4" /><Relationship Type="http://schemas.openxmlformats.org/officeDocument/2006/relationships/notesMaster" Target="/ppt/notesMasters/notesMaster1.xml" Id="R18b7ef81ef4142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e5eb8c3a834d1e" /><Relationship Type="http://schemas.openxmlformats.org/officeDocument/2006/relationships/notesMaster" Target="/ppt/notesMasters/notesMaster1.xml" Id="R2e0ce0225ad74c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6a2ea1dcba42cb" /><Relationship Type="http://schemas.openxmlformats.org/officeDocument/2006/relationships/notesMaster" Target="/ppt/notesMasters/notesMaster1.xml" Id="R42639f968a0c45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cb74db89814d56" /><Relationship Type="http://schemas.openxmlformats.org/officeDocument/2006/relationships/notesMaster" Target="/ppt/notesMasters/notesMaster1.xml" Id="R20a82257072a47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762f83bbd9462a" /><Relationship Type="http://schemas.openxmlformats.org/officeDocument/2006/relationships/notesMaster" Target="/ppt/notesMasters/notesMaster1.xml" Id="R3421d775de384d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bec090690640ef" /><Relationship Type="http://schemas.openxmlformats.org/officeDocument/2006/relationships/notesMaster" Target="/ppt/notesMasters/notesMaster1.xml" Id="R78331b0e77da4e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a2a65ee7e743bc" /><Relationship Type="http://schemas.openxmlformats.org/officeDocument/2006/relationships/notesMaster" Target="/ppt/notesMasters/notesMaster1.xml" Id="R8927a2c1442c4b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3db70f4d164677" /><Relationship Type="http://schemas.openxmlformats.org/officeDocument/2006/relationships/notesMaster" Target="/ppt/notesMasters/notesMaster1.xml" Id="R391b563b78a14d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ac5048d5844e69" /><Relationship Type="http://schemas.openxmlformats.org/officeDocument/2006/relationships/notesMaster" Target="/ppt/notesMasters/notesMaster1.xml" Id="R1433d5f5821948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3f4807bde54791" /><Relationship Type="http://schemas.openxmlformats.org/officeDocument/2006/relationships/notesMaster" Target="/ppt/notesMasters/notesMaster1.xml" Id="R05a5049536c84d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6872c51dc244bb" /><Relationship Type="http://schemas.openxmlformats.org/officeDocument/2006/relationships/notesMaster" Target="/ppt/notesMasters/notesMaster1.xml" Id="R41c719d5ebed46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0d38228cd44c62" /><Relationship Type="http://schemas.openxmlformats.org/officeDocument/2006/relationships/notesMaster" Target="/ppt/notesMasters/notesMaster1.xml" Id="R8ac643a9ee224ca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b529104d0f496a" /><Relationship Type="http://schemas.openxmlformats.org/officeDocument/2006/relationships/notesMaster" Target="/ppt/notesMasters/notesMaster1.xml" Id="R9f02aa9391c040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a028c811cc4de7" /><Relationship Type="http://schemas.openxmlformats.org/officeDocument/2006/relationships/notesMaster" Target="/ppt/notesMasters/notesMaster1.xml" Id="R2e4c7dfacb7f40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51042cdf544a88" /><Relationship Type="http://schemas.openxmlformats.org/officeDocument/2006/relationships/notesMaster" Target="/ppt/notesMasters/notesMaster1.xml" Id="Rd117a2d59cba4b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50d71a2a0440fa" /><Relationship Type="http://schemas.openxmlformats.org/officeDocument/2006/relationships/notesMaster" Target="/ppt/notesMasters/notesMaster1.xml" Id="R6ec0125d719e41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0a1d741e494708" /><Relationship Type="http://schemas.openxmlformats.org/officeDocument/2006/relationships/notesMaster" Target="/ppt/notesMasters/notesMaster1.xml" Id="R4fa57678f0d149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3f8a1c5804649f8" /><Relationship Type="http://schemas.openxmlformats.org/officeDocument/2006/relationships/notesMaster" Target="/ppt/notesMasters/notesMaster1.xml" Id="R1432614ea6bb44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beedf246e424d67" /><Relationship Type="http://schemas.openxmlformats.org/officeDocument/2006/relationships/notesMaster" Target="/ppt/notesMasters/notesMaster1.xml" Id="Recdde8bdd8d5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오늘 목표를 소개합니다. CPU 부품 이름을 외우는 시간이 아니라, 코드 한 줄이 어떤 과정을 거쳐 실행되는지 이해하는 시간이라고 안내합니다. 청중에게 “CPU를 한 문장으로 설명할 수 있나요?”라고 물어봅니다.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네 질문을 오늘의 지도처럼 사용합니다. 각 질문은 뒤 슬라이드에서 하나씩 해결됩니다. 세부 명칭을 모두 암기할 필요는 없다고 안심시킵니다.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주방 비유를 설명합니다. 주문서는 명령어, 작업대는 레지스터와 실행 유닛, 가까운 찬장은 캐시, 멀리 있는 창고는 RAM입니다. 비유는 완벽한 대응이 아니라 큰 흐름을 잡는 도구라고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Fetch, Decode, Execute를 함께 읽습니다. 모든 세부 구조는 이 세 단계 중 어디에 도움을 주는지로 연결해서 보면 쉽다고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고급 언어의 한 줄이 여러 기계 명령어로 바뀔 수 있음을 설명합니다. 실제 명령어 모양은 CPU 종류와 컴파일러에 따라 달라진다고 덧붙입니다.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코어를 여러 작업자에 비유합니다. 한 사람이 해야 하는 일을 작업자 수만 늘린다고 자동으로 나눌 수는 없다고 설명합니다. 게임 예시는 가능한 분할의 예일 뿐 엔진마다 다릅니다.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제어 장치는 직접 모든 계산을 하기보다 필요한 장치에 일을 배분하는 지휘자에 가깝다고 설명합니다. PC와 디코더가 이 흐름에 참여합니다.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레지스터를 메모장에 비유합니다. 값 10과 20을 R1, R2에 놓고 결과 30을 R3에 쓰는 과정을 보여줍니다. 실제 레지스터 이름은 ISA마다 다릅니다.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PC는 책갈피, SP는 쌓아 둔 접시의 맨 위, 상태 플래그는 계산 결과에 붙인 메모로 비유합니다. if문은 플래그를 보고 PC가 다른 위치로 이동하는 흐름으로 설명할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네 실행 유닛의 역할을 설명합니다. CPU마다 유닛 수와 구조는 다르며, 명령어가 준비되어 있어야 유닛을 활용할 수 있다고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SIMD의 개념만 설명합니다. 벡터, 행렬, 파티클처럼 같은 계산을 반복할 때 유리하지만 자동으로 항상 적용되는 것은 아니라고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계산 자체보다 데이터를 기다리는 시간이 병목이 될 수 있음을 강조합니다. 이 문제를 완화하기 위해 캐시가 등장한다고 다음 슬라이드로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레지스터부터 RAM까지 순서를 함께 읽습니다. 캐시에 데이터가 있으면 hit, 없으면 miss라고 설명합니다. 정확한 속도 숫자는 CPU마다 다르므로 순서와 원리만 이해하도록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캐시 라인을 설명합니다. 64바이트가 흔하지만 시스템마다 다르다고 주의합니다. int 4바이트라면 한 라인에 16개가 들어갈 수 있다는 단순 예시임을 밝힙니다.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정답은 C 레지스터입니다. 20초 정도 생각하게 한 뒤 이유를 받습니다. 저장 공간의 계층 순서를 다시 한번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세탁기 단계 비유를 사용할 수 있습니다. 파이프라인은 한 명령어의 지연을 반드시 줄이는 것이 아니라 여러 명령어를 겹쳐 처리해 처리량을 높인다고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CPU가 매번 분기 결과를 기다리면 파이프라인이 비기 때문에 예측한다고 설명합니다. 조건문 자체보다 예측 실패가 비싼 경우가 많다는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프로그램이 보이는 결과는 원래 순서를 지키지만 내부 실행 순서는 달라질 수 있다고 설명합니다. 의존성이 없는 명령어만 앞서갈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슈퍼스칼라를 여러 조리대를 동시에 쓰는 주방에 비유합니다. 명령어 사이 의존성이 많으면 유닛이 있어도 동시에 활용하기 어렵습니다.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GHz는 박자 수일 뿐 같은 박자에 얼마나 많은 일을 했는지, 데이터를 얼마나 기다렸는지에 따라 결과가 달라진다고 설명합니다. 서로 다른 세대 CPU는 클럭만 직접 비교하지 않도록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주소 번역기 비유를 사용합니다. 프로그램은 가상 주소를 사용하고 MMU가 물리 주소로 바꿉니다. TLB는 자주 쓰는 번역 결과를 적어 둔 메모장입니다.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캐시 복사본이 서로 다른 값을 갖는 문제를 설명합니다. MESI 이름은 소개만 하고 상태를 외우게 하지는 않습니다. 여러 스레드가 같은 캐시 라인을 계속 수정하면 성능이 떨어질 수 있다고 덧붙입니다.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SMT와 멀티코어를 구분합니다. 한 스레드가 메모리를 기다릴 때 다른 스레드가 비어 있는 실행 유닛을 활용하는 예를 듭니다.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result = a + b를 기준으로 흐름을 천천히 따라갑니다. 캐시 미스가 나면 L2, L3, RAM 순으로 찾는다는 점을 중간에 넣습니다. 실제 CPU는 파이프라인과 비순차 실행 때문에 동시에 여러 단계가 진행됩니다.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[3분] 먼저 빈칸을 가린 채 질문하고 답을 확인합니다. 이어 캐시가 필요한 이유를 옆 사람에게 설명하게 합니다. 설명할 수 있으면 핵심 흐름을 이해한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[2분] 첫 슬라이드의 질문으로 돌아갑니다. CPU를 한 문장으로 설명해 보게 한 뒤, “명령어를 가져와 해석하고 실행하며 여러 장치가 그 과정을 빠르게 만든다”로 정리합니다. 남은 시간은 질문을 받습니다.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935ca93f64d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76593a25c141f9" /><Relationship Type="http://schemas.openxmlformats.org/officeDocument/2006/relationships/slideLayout" Target="/ppt/slideLayouts/slideLayout1.xml" Id="R1fa68adea1ed4b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68adea1ed4b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491b76df744cd" /><Relationship Type="http://schemas.openxmlformats.org/officeDocument/2006/relationships/notesSlide" Target="/ppt/notesSlides/notesSlide1.xml" Id="R2fb991762fb8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a4ede195b49ea" /><Relationship Type="http://schemas.openxmlformats.org/officeDocument/2006/relationships/notesSlide" Target="/ppt/notesSlides/notesSlide2.xml" Id="Ree6750988f2649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b84da16174568" /><Relationship Type="http://schemas.openxmlformats.org/officeDocument/2006/relationships/notesSlide" Target="/ppt/notesSlides/notesSlide3.xml" Id="Rd0145266ac2a4b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a40fa1118446f" /><Relationship Type="http://schemas.openxmlformats.org/officeDocument/2006/relationships/notesSlide" Target="/ppt/notesSlides/notesSlide4.xml" Id="R23e83768959d4f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80d137bb044f0" /><Relationship Type="http://schemas.openxmlformats.org/officeDocument/2006/relationships/notesSlide" Target="/ppt/notesSlides/notesSlide5.xml" Id="R7c18c6b3121344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bfac8caa64f0c" /><Relationship Type="http://schemas.openxmlformats.org/officeDocument/2006/relationships/notesSlide" Target="/ppt/notesSlides/notesSlide6.xml" Id="Rb126b5e73e5647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196c065864e83" /><Relationship Type="http://schemas.openxmlformats.org/officeDocument/2006/relationships/notesSlide" Target="/ppt/notesSlides/notesSlide7.xml" Id="R05729b98662a4e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18f912aca4d41" /><Relationship Type="http://schemas.openxmlformats.org/officeDocument/2006/relationships/notesSlide" Target="/ppt/notesSlides/notesSlide8.xml" Id="R3a63fe86f5f24b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07239ad0541e4" /><Relationship Type="http://schemas.openxmlformats.org/officeDocument/2006/relationships/notesSlide" Target="/ppt/notesSlides/notesSlide9.xml" Id="R82d1bf92e6f540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bc461817f4b11" /><Relationship Type="http://schemas.openxmlformats.org/officeDocument/2006/relationships/notesSlide" Target="/ppt/notesSlides/notesSlide10.xml" Id="Rb2ebefaa550e4f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8a2f6d6654124" /><Relationship Type="http://schemas.openxmlformats.org/officeDocument/2006/relationships/notesSlide" Target="/ppt/notesSlides/notesSlide11.xml" Id="R35a4fd7caf3d4f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7c082fa7e4304" /><Relationship Type="http://schemas.openxmlformats.org/officeDocument/2006/relationships/notesSlide" Target="/ppt/notesSlides/notesSlide12.xml" Id="R975fa3dffd4b4f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ff9e0065948b6" /><Relationship Type="http://schemas.openxmlformats.org/officeDocument/2006/relationships/notesSlide" Target="/ppt/notesSlides/notesSlide13.xml" Id="Rd9daa607a4d84a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1d70b25da4735" /><Relationship Type="http://schemas.openxmlformats.org/officeDocument/2006/relationships/notesSlide" Target="/ppt/notesSlides/notesSlide14.xml" Id="R240bdf6a294843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9035ccca3447a" /><Relationship Type="http://schemas.openxmlformats.org/officeDocument/2006/relationships/notesSlide" Target="/ppt/notesSlides/notesSlide15.xml" Id="R9f58c8780b5e4c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288a201914d6c" /><Relationship Type="http://schemas.openxmlformats.org/officeDocument/2006/relationships/notesSlide" Target="/ppt/notesSlides/notesSlide16.xml" Id="Rd10dd35fc61a49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12ec56914460a" /><Relationship Type="http://schemas.openxmlformats.org/officeDocument/2006/relationships/notesSlide" Target="/ppt/notesSlides/notesSlide17.xml" Id="R706c308bb5054b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2ca322176491f" /><Relationship Type="http://schemas.openxmlformats.org/officeDocument/2006/relationships/notesSlide" Target="/ppt/notesSlides/notesSlide18.xml" Id="R9397887d40db41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d1243b93e4894" /><Relationship Type="http://schemas.openxmlformats.org/officeDocument/2006/relationships/notesSlide" Target="/ppt/notesSlides/notesSlide19.xml" Id="Rcb22db5a3ffd41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861f48a0a47d5" /><Relationship Type="http://schemas.openxmlformats.org/officeDocument/2006/relationships/notesSlide" Target="/ppt/notesSlides/notesSlide20.xml" Id="R99b93e0503ec4b3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881f9dd79445a" /><Relationship Type="http://schemas.openxmlformats.org/officeDocument/2006/relationships/notesSlide" Target="/ppt/notesSlides/notesSlide21.xml" Id="R8976253a1a754c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817481b264a51" /><Relationship Type="http://schemas.openxmlformats.org/officeDocument/2006/relationships/notesSlide" Target="/ppt/notesSlides/notesSlide22.xml" Id="R4a8dc3a6ede345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9b78434dd4661" /><Relationship Type="http://schemas.openxmlformats.org/officeDocument/2006/relationships/notesSlide" Target="/ppt/notesSlides/notesSlide23.xml" Id="R0d5aa94113cb40b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939846a1f4841" /><Relationship Type="http://schemas.openxmlformats.org/officeDocument/2006/relationships/notesSlide" Target="/ppt/notesSlides/notesSlide24.xml" Id="R5077617627cb48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3e72b878f4768" /><Relationship Type="http://schemas.openxmlformats.org/officeDocument/2006/relationships/notesSlide" Target="/ppt/notesSlides/notesSlide25.xml" Id="Rf6ab7a4997ff48f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1308c00844411" /><Relationship Type="http://schemas.openxmlformats.org/officeDocument/2006/relationships/notesSlide" Target="/ppt/notesSlides/notesSlide26.xml" Id="R26c6fd9013314d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2-38">
            <a:extLst xmlns:a="http://schemas.openxmlformats.org/drawingml/2006/main">
              <a:ext uri="{FF2B5EF4-FFF2-40B4-BE49-F238E27FC236}">
                <a16:creationId xmlns:a16="http://schemas.microsoft.com/office/drawing/2014/main" id="{7D388DCE-210B-43E4-B5F0-FF153552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CPU 기초</a:t>
            </a:r>
          </a:p>
        </p:txBody>
      </p:sp>
      <p:sp>
        <p:nvSpPr>
          <p:cNvPr id="2" name="text-42-190">
            <a:extLst xmlns:a="http://schemas.openxmlformats.org/drawingml/2006/main">
              <a:ext uri="{FF2B5EF4-FFF2-40B4-BE49-F238E27FC236}">
                <a16:creationId xmlns:a16="http://schemas.microsoft.com/office/drawing/2014/main" id="{1BE15C07-E416-4EC3-B991-F7579D6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048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컴퓨터의 ‘생각하는 과정’을
한 시간에 이해하기</a:t>
            </a:r>
          </a:p>
        </p:txBody>
      </p:sp>
      <p:sp>
        <p:nvSpPr>
          <p:cNvPr id="3" name="text-42-435">
            <a:extLst xmlns:a="http://schemas.openxmlformats.org/drawingml/2006/main">
              <a:ext uri="{FF2B5EF4-FFF2-40B4-BE49-F238E27FC236}">
                <a16:creationId xmlns:a16="http://schemas.microsoft.com/office/drawing/2014/main" id="{A0184BCB-2808-458C-A0E6-7D0C219E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857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명령어를 가져오고 → 해석하고 → 실행하는 장치</a:t>
            </a:r>
          </a:p>
        </p:txBody>
      </p:sp>
      <p:sp>
        <p:nvSpPr>
          <p:cNvPr id="4" name="box-1010-180">
            <a:extLst xmlns:a="http://schemas.openxmlformats.org/drawingml/2006/main">
              <a:ext uri="{FF2B5EF4-FFF2-40B4-BE49-F238E27FC236}">
                <a16:creationId xmlns:a16="http://schemas.microsoft.com/office/drawing/2014/main" id="{050DC49E-5BE0-4050-BCAC-C056FC5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text-1010-232">
            <a:extLst xmlns:a="http://schemas.openxmlformats.org/drawingml/2006/main">
              <a:ext uri="{FF2B5EF4-FFF2-40B4-BE49-F238E27FC236}">
                <a16:creationId xmlns:a16="http://schemas.microsoft.com/office/drawing/2014/main" id="{6ED261BA-A976-463A-B28D-C4351D5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1619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542660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2-34">
            <a:extLst xmlns:a="http://schemas.openxmlformats.org/drawingml/2006/main">
              <a:ext uri="{FF2B5EF4-FFF2-40B4-BE49-F238E27FC236}">
                <a16:creationId xmlns:a16="http://schemas.microsoft.com/office/drawing/2014/main" id="{7DB8A65C-AFE3-4AE4-8960-00D36F69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학습 목표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0745C1AC-21EA-49DD-94C1-E57BC1DB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오늘 답할 네 가지 질문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022DB61C-ABF6-44C2-85AA-30D1F46E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4" name="box-42-180">
            <a:extLst xmlns:a="http://schemas.openxmlformats.org/drawingml/2006/main">
              <a:ext uri="{FF2B5EF4-FFF2-40B4-BE49-F238E27FC236}">
                <a16:creationId xmlns:a16="http://schemas.microsoft.com/office/drawing/2014/main" id="{0A070985-A747-4879-9EA3-5A81E442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04">
            <a:extLst xmlns:a="http://schemas.openxmlformats.org/drawingml/2006/main">
              <a:ext uri="{FF2B5EF4-FFF2-40B4-BE49-F238E27FC236}">
                <a16:creationId xmlns:a16="http://schemas.microsoft.com/office/drawing/2014/main" id="{4C88E242-214A-44B5-922D-F0E4D22B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876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1. CPU는 무슨 일을 할까요?</a:t>
            </a:r>
          </a:p>
        </p:txBody>
      </p:sp>
      <p:sp>
        <p:nvSpPr>
          <p:cNvPr id="6" name="text-66-262">
            <a:extLst xmlns:a="http://schemas.openxmlformats.org/drawingml/2006/main">
              <a:ext uri="{FF2B5EF4-FFF2-40B4-BE49-F238E27FC236}">
                <a16:creationId xmlns:a16="http://schemas.microsoft.com/office/drawing/2014/main" id="{9776509B-A8FC-4DA7-9A23-56832C05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4876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명령어를 가져오고, 뜻을 해석하고, 실제 작업을 수행합니다.</a:t>
            </a:r>
          </a:p>
        </p:txBody>
      </p:sp>
      <p:sp>
        <p:nvSpPr>
          <p:cNvPr id="7" name="box-638-180">
            <a:extLst xmlns:a="http://schemas.openxmlformats.org/drawingml/2006/main">
              <a:ext uri="{FF2B5EF4-FFF2-40B4-BE49-F238E27FC236}">
                <a16:creationId xmlns:a16="http://schemas.microsoft.com/office/drawing/2014/main" id="{B52AAFB4-0CC5-4803-A21D-9F087F85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662-204">
            <a:extLst xmlns:a="http://schemas.openxmlformats.org/drawingml/2006/main">
              <a:ext uri="{FF2B5EF4-FFF2-40B4-BE49-F238E27FC236}">
                <a16:creationId xmlns:a16="http://schemas.microsoft.com/office/drawing/2014/main" id="{A8031A9C-9B11-4422-9D48-7A5C9E8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4876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2. CPU 안에는 무엇이 있을까요?</a:t>
            </a:r>
          </a:p>
        </p:txBody>
      </p:sp>
      <p:sp>
        <p:nvSpPr>
          <p:cNvPr id="9" name="text-662-262">
            <a:extLst xmlns:a="http://schemas.openxmlformats.org/drawingml/2006/main">
              <a:ext uri="{FF2B5EF4-FFF2-40B4-BE49-F238E27FC236}">
                <a16:creationId xmlns:a16="http://schemas.microsoft.com/office/drawing/2014/main" id="{DD6D390C-5C4F-45B5-A38F-DC984864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4876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제어 장치, 레지스터, 실행 유닛, 캐시가 협력합니다.</a:t>
            </a:r>
          </a:p>
        </p:txBody>
      </p:sp>
      <p:sp>
        <p:nvSpPr>
          <p:cNvPr id="10" name="box-42-390">
            <a:extLst xmlns:a="http://schemas.openxmlformats.org/drawingml/2006/main">
              <a:ext uri="{FF2B5EF4-FFF2-40B4-BE49-F238E27FC236}">
                <a16:creationId xmlns:a16="http://schemas.microsoft.com/office/drawing/2014/main" id="{F47240A1-8033-436B-B63E-8003AEB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66-414">
            <a:extLst xmlns:a="http://schemas.openxmlformats.org/drawingml/2006/main">
              <a:ext uri="{FF2B5EF4-FFF2-40B4-BE49-F238E27FC236}">
                <a16:creationId xmlns:a16="http://schemas.microsoft.com/office/drawing/2014/main" id="{3CB87404-7E60-4562-98F0-BA2256FA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4876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3. 왜 같은 CPU도 속도가 달라질까요?</a:t>
            </a:r>
          </a:p>
        </p:txBody>
      </p:sp>
      <p:sp>
        <p:nvSpPr>
          <p:cNvPr id="12" name="text-66-472">
            <a:extLst xmlns:a="http://schemas.openxmlformats.org/drawingml/2006/main">
              <a:ext uri="{FF2B5EF4-FFF2-40B4-BE49-F238E27FC236}">
                <a16:creationId xmlns:a16="http://schemas.microsoft.com/office/drawing/2014/main" id="{DD48E284-B996-4C5C-9B23-D448DC3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4876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클럭뿐 아니라 IPC, 캐시, 분기와 코어 활용이 영향을 줍니다.</a:t>
            </a:r>
          </a:p>
        </p:txBody>
      </p:sp>
      <p:sp>
        <p:nvSpPr>
          <p:cNvPr id="13" name="box-638-390">
            <a:extLst xmlns:a="http://schemas.openxmlformats.org/drawingml/2006/main">
              <a:ext uri="{FF2B5EF4-FFF2-40B4-BE49-F238E27FC236}">
                <a16:creationId xmlns:a16="http://schemas.microsoft.com/office/drawing/2014/main" id="{637A5C9C-DFF5-48B4-A984-C0C7CD1F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text-662-414">
            <a:extLst xmlns:a="http://schemas.openxmlformats.org/drawingml/2006/main">
              <a:ext uri="{FF2B5EF4-FFF2-40B4-BE49-F238E27FC236}">
                <a16:creationId xmlns:a16="http://schemas.microsoft.com/office/drawing/2014/main" id="{BFAEF038-F77D-4BEB-95AE-4D54B315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4876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4. 코드와 어떤 관계가 있을까요?</a:t>
            </a:r>
          </a:p>
        </p:txBody>
      </p:sp>
      <p:sp>
        <p:nvSpPr>
          <p:cNvPr id="15" name="text-662-472">
            <a:extLst xmlns:a="http://schemas.openxmlformats.org/drawingml/2006/main">
              <a:ext uri="{FF2B5EF4-FFF2-40B4-BE49-F238E27FC236}">
                <a16:creationId xmlns:a16="http://schemas.microsoft.com/office/drawing/2014/main" id="{80394658-1680-4C8F-BEDC-7E4AD01A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95800"/>
            <a:ext cx="4876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데이터 배치와 작업 분할이 실제 실행 속도를 바꿉니다.</a:t>
            </a:r>
          </a:p>
        </p:txBody>
      </p:sp>
    </p:spTree>
    <p:extLst>
      <p:ext uri="{BB962C8B-B14F-4D97-AF65-F5344CB8AC3E}">
        <p14:creationId xmlns:p14="http://schemas.microsoft.com/office/powerpoint/2010/main" val="2143541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42-34">
            <a:extLst xmlns:a="http://schemas.openxmlformats.org/drawingml/2006/main">
              <a:ext uri="{FF2B5EF4-FFF2-40B4-BE49-F238E27FC236}">
                <a16:creationId xmlns:a16="http://schemas.microsoft.com/office/drawing/2014/main" id="{131B8519-E8F3-4412-B276-B9F26DF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첫 번째 비유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228F9C2C-8E77-4AD4-A364-986316ED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CPU는 주방의 요리사와 닮았습니다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7B264499-5B6A-4B1B-B96F-72700F24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4" name="box-42-190">
            <a:extLst xmlns:a="http://schemas.openxmlformats.org/drawingml/2006/main">
              <a:ext uri="{FF2B5EF4-FFF2-40B4-BE49-F238E27FC236}">
                <a16:creationId xmlns:a16="http://schemas.microsoft.com/office/drawing/2014/main" id="{656906AB-38B9-4713-9E72-CC3F3D28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14">
            <a:extLst xmlns:a="http://schemas.openxmlformats.org/drawingml/2006/main">
              <a:ext uri="{FF2B5EF4-FFF2-40B4-BE49-F238E27FC236}">
                <a16:creationId xmlns:a16="http://schemas.microsoft.com/office/drawing/2014/main" id="{56DE6994-FCFF-487F-AEEC-7E0E09CE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주문서</a:t>
            </a:r>
          </a:p>
        </p:txBody>
      </p:sp>
      <p:sp>
        <p:nvSpPr>
          <p:cNvPr id="6" name="text-66-272">
            <a:extLst xmlns:a="http://schemas.openxmlformats.org/drawingml/2006/main">
              <a:ext uri="{FF2B5EF4-FFF2-40B4-BE49-F238E27FC236}">
                <a16:creationId xmlns:a16="http://schemas.microsoft.com/office/drawing/2014/main" id="{5605D9D7-8326-4AAA-AF8E-7915E824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8765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프로그램의 명령어
예: 재료를 더한다</a:t>
            </a:r>
          </a:p>
        </p:txBody>
      </p:sp>
      <p:sp>
        <p:nvSpPr>
          <p:cNvPr id="7" name="box-465-190">
            <a:extLst xmlns:a="http://schemas.openxmlformats.org/drawingml/2006/main">
              <a:ext uri="{FF2B5EF4-FFF2-40B4-BE49-F238E27FC236}">
                <a16:creationId xmlns:a16="http://schemas.microsoft.com/office/drawing/2014/main" id="{A23275EE-F7DF-4770-BA70-583692C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489-214">
            <a:extLst xmlns:a="http://schemas.openxmlformats.org/drawingml/2006/main">
              <a:ext uri="{FF2B5EF4-FFF2-40B4-BE49-F238E27FC236}">
                <a16:creationId xmlns:a16="http://schemas.microsoft.com/office/drawing/2014/main" id="{BC040662-D827-48FD-849C-61D1198A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작업대</a:t>
            </a:r>
          </a:p>
        </p:txBody>
      </p:sp>
      <p:sp>
        <p:nvSpPr>
          <p:cNvPr id="9" name="text-489-272">
            <a:extLst xmlns:a="http://schemas.openxmlformats.org/drawingml/2006/main">
              <a:ext uri="{FF2B5EF4-FFF2-40B4-BE49-F238E27FC236}">
                <a16:creationId xmlns:a16="http://schemas.microsoft.com/office/drawing/2014/main" id="{DC943BF2-7D5E-4759-9021-A3210B46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90800"/>
            <a:ext cx="28765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레지스터와 실행 유닛
값을 준비하고 계산한다</a:t>
            </a:r>
          </a:p>
        </p:txBody>
      </p:sp>
      <p:sp>
        <p:nvSpPr>
          <p:cNvPr id="10" name="box-888-190">
            <a:extLst xmlns:a="http://schemas.openxmlformats.org/drawingml/2006/main">
              <a:ext uri="{FF2B5EF4-FFF2-40B4-BE49-F238E27FC236}">
                <a16:creationId xmlns:a16="http://schemas.microsoft.com/office/drawing/2014/main" id="{040D2E81-5B8C-4B6B-9D5C-F9A64B6D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2952750" cy="31432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912-214">
            <a:extLst xmlns:a="http://schemas.openxmlformats.org/drawingml/2006/main">
              <a:ext uri="{FF2B5EF4-FFF2-40B4-BE49-F238E27FC236}">
                <a16:creationId xmlns:a16="http://schemas.microsoft.com/office/drawing/2014/main" id="{A7FD3C51-BFAB-4E4F-BC66-893D8585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창고</a:t>
            </a:r>
          </a:p>
        </p:txBody>
      </p:sp>
      <p:sp>
        <p:nvSpPr>
          <p:cNvPr id="12" name="text-912-272">
            <a:extLst xmlns:a="http://schemas.openxmlformats.org/drawingml/2006/main">
              <a:ext uri="{FF2B5EF4-FFF2-40B4-BE49-F238E27FC236}">
                <a16:creationId xmlns:a16="http://schemas.microsoft.com/office/drawing/2014/main" id="{14053ED2-B153-4C58-82E2-564156AF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90800"/>
            <a:ext cx="24955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캐시와 RAM
재료를 보관한다</a:t>
            </a:r>
          </a:p>
        </p:txBody>
      </p:sp>
      <p:cxnSp>
        <p:nvCxnSpPr>
          <p:cNvPr id="27" name="line-395-355"/>
          <p:cNvCxnSpPr/>
          <p:nvPr/>
        </p:nvCxnSpPr>
        <p:spPr>
          <a:xfrm xmlns:a="http://schemas.openxmlformats.org/drawingml/2006/main">
            <a:off x="3762375" y="3381375"/>
            <a:ext cx="5715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28" name="line-818-355"/>
          <p:cNvCxnSpPr/>
          <p:nvPr/>
        </p:nvCxnSpPr>
        <p:spPr>
          <a:xfrm xmlns:a="http://schemas.openxmlformats.org/drawingml/2006/main">
            <a:off x="7791450" y="3381375"/>
            <a:ext cx="5715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787377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2-34">
            <a:extLst xmlns:a="http://schemas.openxmlformats.org/drawingml/2006/main">
              <a:ext uri="{FF2B5EF4-FFF2-40B4-BE49-F238E27FC236}">
                <a16:creationId xmlns:a16="http://schemas.microsoft.com/office/drawing/2014/main" id="{D0EA412E-3A9F-43DE-B115-93CEF055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가장 중요한 흐름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BACD9BA5-BDC5-420C-9A7E-F527CC2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CPU의 기본 동작은 세 단어로 끝납니다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66752115-B969-4603-A5A6-46FD88B0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cxnSp>
        <p:nvCxnSpPr>
          <p:cNvPr id="17" name="line-250-350"/>
          <p:cNvCxnSpPr/>
          <p:nvPr/>
        </p:nvCxnSpPr>
        <p:spPr>
          <a:xfrm xmlns:a="http://schemas.openxmlformats.org/drawingml/2006/main">
            <a:off x="2381250" y="3333750"/>
            <a:ext cx="74295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563EB"/>
            </a:solidFill>
            <a:prstDash val="solid"/>
          </a:ln>
        </p:spPr>
      </p:cxnSp>
      <p:sp>
        <p:nvSpPr>
          <p:cNvPr id="5" name="box-80-230">
            <a:extLst xmlns:a="http://schemas.openxmlformats.org/drawingml/2006/main">
              <a:ext uri="{FF2B5EF4-FFF2-40B4-BE49-F238E27FC236}">
                <a16:creationId xmlns:a16="http://schemas.microsoft.com/office/drawing/2014/main" id="{255B5123-C12A-4F57-8C53-356629AF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text-104-254">
            <a:extLst xmlns:a="http://schemas.openxmlformats.org/drawingml/2006/main">
              <a:ext uri="{FF2B5EF4-FFF2-40B4-BE49-F238E27FC236}">
                <a16:creationId xmlns:a16="http://schemas.microsoft.com/office/drawing/2014/main" id="{2F62F846-A970-41F9-880F-D31A0F70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① Fetch</a:t>
            </a:r>
          </a:p>
        </p:txBody>
      </p:sp>
      <p:sp>
        <p:nvSpPr>
          <p:cNvPr id="7" name="text-104-312">
            <a:extLst xmlns:a="http://schemas.openxmlformats.org/drawingml/2006/main">
              <a:ext uri="{FF2B5EF4-FFF2-40B4-BE49-F238E27FC236}">
                <a16:creationId xmlns:a16="http://schemas.microsoft.com/office/drawing/2014/main" id="{9CDCD169-5248-4DD6-9EB3-44CED5CD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4003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다음 명령어를
가져옵니다.</a:t>
            </a:r>
          </a:p>
        </p:txBody>
      </p:sp>
      <p:sp>
        <p:nvSpPr>
          <p:cNvPr id="8" name="box-490-230">
            <a:extLst xmlns:a="http://schemas.openxmlformats.org/drawingml/2006/main">
              <a:ext uri="{FF2B5EF4-FFF2-40B4-BE49-F238E27FC236}">
                <a16:creationId xmlns:a16="http://schemas.microsoft.com/office/drawing/2014/main" id="{6BD92E4D-CFF9-46F1-A77C-73267905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text-514-254">
            <a:extLst xmlns:a="http://schemas.openxmlformats.org/drawingml/2006/main">
              <a:ext uri="{FF2B5EF4-FFF2-40B4-BE49-F238E27FC236}">
                <a16:creationId xmlns:a16="http://schemas.microsoft.com/office/drawing/2014/main" id="{432C23A1-DF1C-47C3-B497-D91F591B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193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② Decode</a:t>
            </a:r>
          </a:p>
        </p:txBody>
      </p:sp>
      <p:sp>
        <p:nvSpPr>
          <p:cNvPr id="10" name="text-514-312">
            <a:extLst xmlns:a="http://schemas.openxmlformats.org/drawingml/2006/main">
              <a:ext uri="{FF2B5EF4-FFF2-40B4-BE49-F238E27FC236}">
                <a16:creationId xmlns:a16="http://schemas.microsoft.com/office/drawing/2014/main" id="{28BFD297-7FA1-4594-A3A2-18853849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71800"/>
            <a:ext cx="24003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명령어의 뜻을
해석합니다.</a:t>
            </a:r>
          </a:p>
        </p:txBody>
      </p:sp>
      <p:sp>
        <p:nvSpPr>
          <p:cNvPr id="11" name="box-900-230">
            <a:extLst xmlns:a="http://schemas.openxmlformats.org/drawingml/2006/main">
              <a:ext uri="{FF2B5EF4-FFF2-40B4-BE49-F238E27FC236}">
                <a16:creationId xmlns:a16="http://schemas.microsoft.com/office/drawing/2014/main" id="{63567B09-47BF-4AC3-AB1C-3E06B67C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text-924-254">
            <a:extLst xmlns:a="http://schemas.openxmlformats.org/drawingml/2006/main">
              <a:ext uri="{FF2B5EF4-FFF2-40B4-BE49-F238E27FC236}">
                <a16:creationId xmlns:a16="http://schemas.microsoft.com/office/drawing/2014/main" id="{F7001172-C4C2-4FE1-BEDD-C7223E6A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③ Execute</a:t>
            </a:r>
          </a:p>
        </p:txBody>
      </p:sp>
      <p:sp>
        <p:nvSpPr>
          <p:cNvPr id="13" name="text-924-312">
            <a:extLst xmlns:a="http://schemas.openxmlformats.org/drawingml/2006/main">
              <a:ext uri="{FF2B5EF4-FFF2-40B4-BE49-F238E27FC236}">
                <a16:creationId xmlns:a16="http://schemas.microsoft.com/office/drawing/2014/main" id="{4494CFBE-59B6-48A2-9E99-DF7365DB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24003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계산하거나 데이터를
옮깁니다.</a:t>
            </a:r>
          </a:p>
        </p:txBody>
      </p:sp>
    </p:spTree>
    <p:extLst>
      <p:ext uri="{BB962C8B-B14F-4D97-AF65-F5344CB8AC3E}">
        <p14:creationId xmlns:p14="http://schemas.microsoft.com/office/powerpoint/2010/main" val="1894994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42-34">
            <a:extLst xmlns:a="http://schemas.openxmlformats.org/drawingml/2006/main">
              <a:ext uri="{FF2B5EF4-FFF2-40B4-BE49-F238E27FC236}">
                <a16:creationId xmlns:a16="http://schemas.microsoft.com/office/drawing/2014/main" id="{7E773C2B-9F19-47DF-ADA8-6929715E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코드에서 기계어까지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D4F81F9C-B841-4579-9507-F3B6D9D8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프로그램은 결국 작은 명령어들의 줄입니다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6A9676FB-C088-4F8A-AED2-6134AA9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4" name="box-42-190">
            <a:extLst xmlns:a="http://schemas.openxmlformats.org/drawingml/2006/main">
              <a:ext uri="{FF2B5EF4-FFF2-40B4-BE49-F238E27FC236}">
                <a16:creationId xmlns:a16="http://schemas.microsoft.com/office/drawing/2014/main" id="{93735151-6C82-4599-84DB-2A05ECDE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14">
            <a:extLst xmlns:a="http://schemas.openxmlformats.org/drawingml/2006/main">
              <a:ext uri="{FF2B5EF4-FFF2-40B4-BE49-F238E27FC236}">
                <a16:creationId xmlns:a16="http://schemas.microsoft.com/office/drawing/2014/main" id="{44721958-358D-474C-881F-FD0EBB57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우리가 쓰는 코드</a:t>
            </a:r>
          </a:p>
        </p:txBody>
      </p:sp>
      <p:sp>
        <p:nvSpPr>
          <p:cNvPr id="6" name="text-66-272">
            <a:extLst xmlns:a="http://schemas.openxmlformats.org/drawingml/2006/main">
              <a:ext uri="{FF2B5EF4-FFF2-40B4-BE49-F238E27FC236}">
                <a16:creationId xmlns:a16="http://schemas.microsoft.com/office/drawing/2014/main" id="{1D822F8D-5DFE-449E-A384-0CD6E360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876550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result = a + b;</a:t>
            </a:r>
          </a:p>
        </p:txBody>
      </p:sp>
      <p:sp>
        <p:nvSpPr>
          <p:cNvPr id="7" name="box-465-190">
            <a:extLst xmlns:a="http://schemas.openxmlformats.org/drawingml/2006/main">
              <a:ext uri="{FF2B5EF4-FFF2-40B4-BE49-F238E27FC236}">
                <a16:creationId xmlns:a16="http://schemas.microsoft.com/office/drawing/2014/main" id="{3FAE9173-5D0B-4376-9B63-BE0C019D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489-214">
            <a:extLst xmlns:a="http://schemas.openxmlformats.org/drawingml/2006/main">
              <a:ext uri="{FF2B5EF4-FFF2-40B4-BE49-F238E27FC236}">
                <a16:creationId xmlns:a16="http://schemas.microsoft.com/office/drawing/2014/main" id="{8977CCB9-7CAD-4E93-A34F-1A969953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CPU가 보는 명령</a:t>
            </a:r>
          </a:p>
        </p:txBody>
      </p:sp>
      <p:sp>
        <p:nvSpPr>
          <p:cNvPr id="9" name="text-489-272">
            <a:extLst xmlns:a="http://schemas.openxmlformats.org/drawingml/2006/main">
              <a:ext uri="{FF2B5EF4-FFF2-40B4-BE49-F238E27FC236}">
                <a16:creationId xmlns:a16="http://schemas.microsoft.com/office/drawing/2014/main" id="{7E8C31EC-87D3-4F11-8604-1DF6EFBD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90800"/>
            <a:ext cx="2876550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LOAD a
LOAD b
ADD
STORE result</a:t>
            </a:r>
          </a:p>
        </p:txBody>
      </p:sp>
      <p:sp>
        <p:nvSpPr>
          <p:cNvPr id="10" name="box-888-190">
            <a:extLst xmlns:a="http://schemas.openxmlformats.org/drawingml/2006/main">
              <a:ext uri="{FF2B5EF4-FFF2-40B4-BE49-F238E27FC236}">
                <a16:creationId xmlns:a16="http://schemas.microsoft.com/office/drawing/2014/main" id="{5616F7EF-EE5E-4697-9B6C-2EFAB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2952750" cy="3238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912-214">
            <a:extLst xmlns:a="http://schemas.openxmlformats.org/drawingml/2006/main">
              <a:ext uri="{FF2B5EF4-FFF2-40B4-BE49-F238E27FC236}">
                <a16:creationId xmlns:a16="http://schemas.microsoft.com/office/drawing/2014/main" id="{BBD76066-A7D0-4283-B417-3FE54CEC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실제 저장 형태</a:t>
            </a:r>
          </a:p>
        </p:txBody>
      </p:sp>
      <p:sp>
        <p:nvSpPr>
          <p:cNvPr id="12" name="text-912-272">
            <a:extLst xmlns:a="http://schemas.openxmlformats.org/drawingml/2006/main">
              <a:ext uri="{FF2B5EF4-FFF2-40B4-BE49-F238E27FC236}">
                <a16:creationId xmlns:a16="http://schemas.microsoft.com/office/drawing/2014/main" id="{042F99EA-73E8-4088-8BBF-01E48B59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90800"/>
            <a:ext cx="2495550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0과 1로 된
명령어 바이트</a:t>
            </a:r>
          </a:p>
        </p:txBody>
      </p:sp>
      <p:cxnSp>
        <p:nvCxnSpPr>
          <p:cNvPr id="27" name="line-395-360"/>
          <p:cNvCxnSpPr/>
          <p:nvPr/>
        </p:nvCxnSpPr>
        <p:spPr>
          <a:xfrm xmlns:a="http://schemas.openxmlformats.org/drawingml/2006/main">
            <a:off x="3762375" y="3429000"/>
            <a:ext cx="5715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28" name="line-818-360"/>
          <p:cNvCxnSpPr/>
          <p:nvPr/>
        </p:nvCxnSpPr>
        <p:spPr>
          <a:xfrm xmlns:a="http://schemas.openxmlformats.org/drawingml/2006/main">
            <a:off x="7791450" y="3429000"/>
            <a:ext cx="5715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803156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2-34">
            <a:extLst xmlns:a="http://schemas.openxmlformats.org/drawingml/2006/main">
              <a:ext uri="{FF2B5EF4-FFF2-40B4-BE49-F238E27FC236}">
                <a16:creationId xmlns:a16="http://schemas.microsoft.com/office/drawing/2014/main" id="{23D0BA56-B460-4FBD-BA69-BB885240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CPU 코어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DCD2CC83-E352-4A53-A88E-4F10631C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코어는 독립적으로 명령어를 처리하는 작업자입니다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04856D34-63C0-4D10-9F70-64042547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4" name="box-42-180">
            <a:extLst xmlns:a="http://schemas.openxmlformats.org/drawingml/2006/main">
              <a:ext uri="{FF2B5EF4-FFF2-40B4-BE49-F238E27FC236}">
                <a16:creationId xmlns:a16="http://schemas.microsoft.com/office/drawing/2014/main" id="{E7384825-10E3-4EF4-8C56-0D3C1CD2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04">
            <a:extLst xmlns:a="http://schemas.openxmlformats.org/drawingml/2006/main">
              <a:ext uri="{FF2B5EF4-FFF2-40B4-BE49-F238E27FC236}">
                <a16:creationId xmlns:a16="http://schemas.microsoft.com/office/drawing/2014/main" id="{9549005A-75C4-4B48-95E8-E16937BE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Core 0</a:t>
            </a:r>
          </a:p>
        </p:txBody>
      </p:sp>
      <p:sp>
        <p:nvSpPr>
          <p:cNvPr id="6" name="text-66-262">
            <a:extLst xmlns:a="http://schemas.openxmlformats.org/drawingml/2006/main">
              <a:ext uri="{FF2B5EF4-FFF2-40B4-BE49-F238E27FC236}">
                <a16:creationId xmlns:a16="http://schemas.microsoft.com/office/drawing/2014/main" id="{21747372-5A3E-4917-A67E-34682E1C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8765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게임 로직
입력 처리
AI 업데이트</a:t>
            </a:r>
          </a:p>
        </p:txBody>
      </p:sp>
      <p:sp>
        <p:nvSpPr>
          <p:cNvPr id="7" name="box-465-180">
            <a:extLst xmlns:a="http://schemas.openxmlformats.org/drawingml/2006/main">
              <a:ext uri="{FF2B5EF4-FFF2-40B4-BE49-F238E27FC236}">
                <a16:creationId xmlns:a16="http://schemas.microsoft.com/office/drawing/2014/main" id="{21CBE6FC-A451-49B4-BBF9-4984AB69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489-204">
            <a:extLst xmlns:a="http://schemas.openxmlformats.org/drawingml/2006/main">
              <a:ext uri="{FF2B5EF4-FFF2-40B4-BE49-F238E27FC236}">
                <a16:creationId xmlns:a16="http://schemas.microsoft.com/office/drawing/2014/main" id="{55E1DD8F-1EA5-4428-8619-F3F21C92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4310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Core 1</a:t>
            </a:r>
          </a:p>
        </p:txBody>
      </p:sp>
      <p:sp>
        <p:nvSpPr>
          <p:cNvPr id="9" name="text-489-262">
            <a:extLst xmlns:a="http://schemas.openxmlformats.org/drawingml/2006/main">
              <a:ext uri="{FF2B5EF4-FFF2-40B4-BE49-F238E27FC236}">
                <a16:creationId xmlns:a16="http://schemas.microsoft.com/office/drawing/2014/main" id="{15BC52DA-E26C-4D96-92CD-A5D0F2C2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765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물리 계산
애니메이션
작업 처리</a:t>
            </a:r>
          </a:p>
        </p:txBody>
      </p:sp>
      <p:sp>
        <p:nvSpPr>
          <p:cNvPr id="10" name="box-888-180">
            <a:extLst xmlns:a="http://schemas.openxmlformats.org/drawingml/2006/main">
              <a:ext uri="{FF2B5EF4-FFF2-40B4-BE49-F238E27FC236}">
                <a16:creationId xmlns:a16="http://schemas.microsoft.com/office/drawing/2014/main" id="{1F68F8AB-509C-4BED-88A4-B8A127B8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0"/>
            <a:ext cx="2952750" cy="34290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912-204">
            <a:extLst xmlns:a="http://schemas.openxmlformats.org/drawingml/2006/main">
              <a:ext uri="{FF2B5EF4-FFF2-40B4-BE49-F238E27FC236}">
                <a16:creationId xmlns:a16="http://schemas.microsoft.com/office/drawing/2014/main" id="{CAE5F570-B8AA-4230-BDD3-C5FD4B36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공유 자원</a:t>
            </a:r>
          </a:p>
        </p:txBody>
      </p:sp>
      <p:sp>
        <p:nvSpPr>
          <p:cNvPr id="12" name="text-912-262">
            <a:extLst xmlns:a="http://schemas.openxmlformats.org/drawingml/2006/main">
              <a:ext uri="{FF2B5EF4-FFF2-40B4-BE49-F238E27FC236}">
                <a16:creationId xmlns:a16="http://schemas.microsoft.com/office/drawing/2014/main" id="{3D07694F-4083-4F3B-A41C-3F93EFEE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4955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L3 캐시
메모리 대역폭
RAM</a:t>
            </a:r>
          </a:p>
        </p:txBody>
      </p:sp>
      <p:sp>
        <p:nvSpPr>
          <p:cNvPr id="13" name="text-42-585">
            <a:extLst xmlns:a="http://schemas.openxmlformats.org/drawingml/2006/main">
              <a:ext uri="{FF2B5EF4-FFF2-40B4-BE49-F238E27FC236}">
                <a16:creationId xmlns:a16="http://schemas.microsoft.com/office/drawing/2014/main" id="{9473927C-035B-4CFF-AAD2-2CD8896E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000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코어가 많아도 일을 나눌 수 있어야 빨라집니다.</a:t>
            </a:r>
          </a:p>
        </p:txBody>
      </p:sp>
    </p:spTree>
    <p:extLst>
      <p:ext uri="{BB962C8B-B14F-4D97-AF65-F5344CB8AC3E}">
        <p14:creationId xmlns:p14="http://schemas.microsoft.com/office/powerpoint/2010/main" val="18605181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2-34">
            <a:extLst xmlns:a="http://schemas.openxmlformats.org/drawingml/2006/main">
              <a:ext uri="{FF2B5EF4-FFF2-40B4-BE49-F238E27FC236}">
                <a16:creationId xmlns:a16="http://schemas.microsoft.com/office/drawing/2014/main" id="{C5C79F1D-9DD2-4AB1-B5E9-83287458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제어 장치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4BCC29C9-0952-453E-ADE5-87BD552B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제어 장치는 작업 순서를 지휘합니다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ED64E035-04A0-479E-A9B6-43601E52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4" name="box-42-190">
            <a:extLst xmlns:a="http://schemas.openxmlformats.org/drawingml/2006/main">
              <a:ext uri="{FF2B5EF4-FFF2-40B4-BE49-F238E27FC236}">
                <a16:creationId xmlns:a16="http://schemas.microsoft.com/office/drawing/2014/main" id="{7C1CA7F0-9ABD-4509-8894-EDB57129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14">
            <a:extLst xmlns:a="http://schemas.openxmlformats.org/drawingml/2006/main">
              <a:ext uri="{FF2B5EF4-FFF2-40B4-BE49-F238E27FC236}">
                <a16:creationId xmlns:a16="http://schemas.microsoft.com/office/drawing/2014/main" id="{9EEA7DA9-9049-4FDA-A09C-1BE88325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6" name="text-66-272">
            <a:extLst xmlns:a="http://schemas.openxmlformats.org/drawingml/2006/main">
              <a:ext uri="{FF2B5EF4-FFF2-40B4-BE49-F238E27FC236}">
                <a16:creationId xmlns:a16="http://schemas.microsoft.com/office/drawing/2014/main" id="{20812307-4E5E-480A-81AA-585A835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1145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다음 명령어 주소를 확인</a:t>
            </a:r>
          </a:p>
        </p:txBody>
      </p:sp>
      <p:sp>
        <p:nvSpPr>
          <p:cNvPr id="7" name="box-344-190">
            <a:extLst xmlns:a="http://schemas.openxmlformats.org/drawingml/2006/main">
              <a:ext uri="{FF2B5EF4-FFF2-40B4-BE49-F238E27FC236}">
                <a16:creationId xmlns:a16="http://schemas.microsoft.com/office/drawing/2014/main" id="{8DCCC7FE-9873-4827-85E2-29F437D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368-214">
            <a:extLst xmlns:a="http://schemas.openxmlformats.org/drawingml/2006/main">
              <a:ext uri="{FF2B5EF4-FFF2-40B4-BE49-F238E27FC236}">
                <a16:creationId xmlns:a16="http://schemas.microsoft.com/office/drawing/2014/main" id="{DBB32C8E-2E2E-4598-B6B2-E8169C26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text-368-272">
            <a:extLst xmlns:a="http://schemas.openxmlformats.org/drawingml/2006/main">
              <a:ext uri="{FF2B5EF4-FFF2-40B4-BE49-F238E27FC236}">
                <a16:creationId xmlns:a16="http://schemas.microsoft.com/office/drawing/2014/main" id="{AED9F632-51B0-4BC2-B316-6E22042D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1145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캐시나 메모리에서 명령어를 인출</a:t>
            </a:r>
          </a:p>
        </p:txBody>
      </p:sp>
      <p:sp>
        <p:nvSpPr>
          <p:cNvPr id="10" name="box-646-190">
            <a:extLst xmlns:a="http://schemas.openxmlformats.org/drawingml/2006/main">
              <a:ext uri="{FF2B5EF4-FFF2-40B4-BE49-F238E27FC236}">
                <a16:creationId xmlns:a16="http://schemas.microsoft.com/office/drawing/2014/main" id="{94CA020D-C3A2-437E-8899-BE434E52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670-214">
            <a:extLst xmlns:a="http://schemas.openxmlformats.org/drawingml/2006/main">
              <a:ext uri="{FF2B5EF4-FFF2-40B4-BE49-F238E27FC236}">
                <a16:creationId xmlns:a16="http://schemas.microsoft.com/office/drawing/2014/main" id="{498343D0-FDEA-4118-8017-4C46A6D1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2" name="text-670-272">
            <a:extLst xmlns:a="http://schemas.openxmlformats.org/drawingml/2006/main">
              <a:ext uri="{FF2B5EF4-FFF2-40B4-BE49-F238E27FC236}">
                <a16:creationId xmlns:a16="http://schemas.microsoft.com/office/drawing/2014/main" id="{BDC0732A-D3FA-480B-A578-48434E42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21145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디코더가 뜻을 해석</a:t>
            </a:r>
          </a:p>
        </p:txBody>
      </p:sp>
      <p:sp>
        <p:nvSpPr>
          <p:cNvPr id="13" name="box-948-190">
            <a:extLst xmlns:a="http://schemas.openxmlformats.org/drawingml/2006/main">
              <a:ext uri="{FF2B5EF4-FFF2-40B4-BE49-F238E27FC236}">
                <a16:creationId xmlns:a16="http://schemas.microsoft.com/office/drawing/2014/main" id="{E6DAE0A3-9E9C-4569-8804-E2552AB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381250" cy="3143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text-972-214">
            <a:extLst xmlns:a="http://schemas.openxmlformats.org/drawingml/2006/main">
              <a:ext uri="{FF2B5EF4-FFF2-40B4-BE49-F238E27FC236}">
                <a16:creationId xmlns:a16="http://schemas.microsoft.com/office/drawing/2014/main" id="{EA7D6C46-6664-426A-BC5E-19D0C63D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38350"/>
            <a:ext cx="1924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5" name="text-972-272">
            <a:extLst xmlns:a="http://schemas.openxmlformats.org/drawingml/2006/main">
              <a:ext uri="{FF2B5EF4-FFF2-40B4-BE49-F238E27FC236}">
                <a16:creationId xmlns:a16="http://schemas.microsoft.com/office/drawing/2014/main" id="{9DCF3DC6-8159-4059-B157-70CB156A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9240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실행 유닛에 신호를 전달</a:t>
            </a:r>
          </a:p>
        </p:txBody>
      </p:sp>
    </p:spTree>
    <p:extLst>
      <p:ext uri="{BB962C8B-B14F-4D97-AF65-F5344CB8AC3E}">
        <p14:creationId xmlns:p14="http://schemas.microsoft.com/office/powerpoint/2010/main" val="21025535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42-34">
            <a:extLst xmlns:a="http://schemas.openxmlformats.org/drawingml/2006/main">
              <a:ext uri="{FF2B5EF4-FFF2-40B4-BE49-F238E27FC236}">
                <a16:creationId xmlns:a16="http://schemas.microsoft.com/office/drawing/2014/main" id="{D2D9CC73-7E0B-4ED3-A616-5FD44339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레지스터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721D618A-310F-480E-9CAA-621D6F54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레지스터는 CPU 바로 옆의 초고속 메모장입니다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B0A51D7E-4AC3-4085-8E86-A1696B0B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4" name="text-42-190">
            <a:extLst xmlns:a="http://schemas.openxmlformats.org/drawingml/2006/main">
              <a:ext uri="{FF2B5EF4-FFF2-40B4-BE49-F238E27FC236}">
                <a16:creationId xmlns:a16="http://schemas.microsoft.com/office/drawing/2014/main" id="{AA43E085-AF32-4C74-BF59-EA1BBE40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작고 빠르다</a:t>
            </a:r>
          </a:p>
        </p:txBody>
      </p:sp>
      <p:sp>
        <p:nvSpPr>
          <p:cNvPr id="5" name="text-42-300">
            <a:extLst xmlns:a="http://schemas.openxmlformats.org/drawingml/2006/main">
              <a:ext uri="{FF2B5EF4-FFF2-40B4-BE49-F238E27FC236}">
                <a16:creationId xmlns:a16="http://schemas.microsoft.com/office/drawing/2014/main" id="{0C5F6880-1CD1-4D26-B71A-2F78C1F6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334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• 계산할 값을 잠깐 보관합니다.</a:t>
            </a:r>
          </a:p>
        </p:txBody>
      </p:sp>
      <p:sp>
        <p:nvSpPr>
          <p:cNvPr id="6" name="text-42-368">
            <a:extLst xmlns:a="http://schemas.openxmlformats.org/drawingml/2006/main">
              <a:ext uri="{FF2B5EF4-FFF2-40B4-BE49-F238E27FC236}">
                <a16:creationId xmlns:a16="http://schemas.microsoft.com/office/drawing/2014/main" id="{58B01F55-1050-4DB5-8169-A51D66B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5334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• 중간 결과를 즉시 다시 사용합니다.</a:t>
            </a:r>
          </a:p>
        </p:txBody>
      </p:sp>
      <p:sp>
        <p:nvSpPr>
          <p:cNvPr id="7" name="text-42-436">
            <a:extLst xmlns:a="http://schemas.openxmlformats.org/drawingml/2006/main">
              <a:ext uri="{FF2B5EF4-FFF2-40B4-BE49-F238E27FC236}">
                <a16:creationId xmlns:a16="http://schemas.microsoft.com/office/drawing/2014/main" id="{C81C2728-EFEB-4C38-A470-AB3586EB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334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• RAM까지 왕복하는 횟수를 줄입니다.</a:t>
            </a:r>
          </a:p>
        </p:txBody>
      </p:sp>
      <p:sp>
        <p:nvSpPr>
          <p:cNvPr id="8" name="box-700-185">
            <a:extLst xmlns:a="http://schemas.openxmlformats.org/drawingml/2006/main">
              <a:ext uri="{FF2B5EF4-FFF2-40B4-BE49-F238E27FC236}">
                <a16:creationId xmlns:a16="http://schemas.microsoft.com/office/drawing/2014/main" id="{D3E414A2-F7DF-4EC0-B071-B9CA021D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381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text-745-235">
            <a:extLst xmlns:a="http://schemas.openxmlformats.org/drawingml/2006/main">
              <a:ext uri="{FF2B5EF4-FFF2-40B4-BE49-F238E27FC236}">
                <a16:creationId xmlns:a16="http://schemas.microsoft.com/office/drawing/2014/main" id="{C040CC1F-E242-4E47-8692-B312460B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38375"/>
            <a:ext cx="3429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R1   10</a:t>
            </a:r>
          </a:p>
        </p:txBody>
      </p:sp>
      <p:sp>
        <p:nvSpPr>
          <p:cNvPr id="10" name="text-745-320">
            <a:extLst xmlns:a="http://schemas.openxmlformats.org/drawingml/2006/main">
              <a:ext uri="{FF2B5EF4-FFF2-40B4-BE49-F238E27FC236}">
                <a16:creationId xmlns:a16="http://schemas.microsoft.com/office/drawing/2014/main" id="{756CC603-AA9C-4631-95B5-5A6B300E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48000"/>
            <a:ext cx="3429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R2   20</a:t>
            </a:r>
          </a:p>
        </p:txBody>
      </p:sp>
      <p:sp>
        <p:nvSpPr>
          <p:cNvPr id="11" name="text-745-405">
            <a:extLst xmlns:a="http://schemas.openxmlformats.org/drawingml/2006/main">
              <a:ext uri="{FF2B5EF4-FFF2-40B4-BE49-F238E27FC236}">
                <a16:creationId xmlns:a16="http://schemas.microsoft.com/office/drawing/2014/main" id="{449F5978-B810-465B-AA5E-5C54D33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3429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A5F3FC"/>
                </a:solidFill>
                <a:latin typeface="Malgun Gothic"/>
                <a:ea typeface="Malgun Gothic"/>
                <a:cs typeface="Malgun Gothic"/>
              </a:defRPr>
            </a:pPr>
            <a:r>
              <a:t>R3   30</a:t>
            </a:r>
          </a:p>
        </p:txBody>
      </p:sp>
      <p:sp>
        <p:nvSpPr>
          <p:cNvPr id="12" name="text-715-570">
            <a:extLst xmlns:a="http://schemas.openxmlformats.org/drawingml/2006/main">
              <a:ext uri="{FF2B5EF4-FFF2-40B4-BE49-F238E27FC236}">
                <a16:creationId xmlns:a16="http://schemas.microsoft.com/office/drawing/2014/main" id="{1CC498AB-8665-4403-B1A0-7451E5E1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29250"/>
            <a:ext cx="4095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10 + 20 = 30</a:t>
            </a:r>
          </a:p>
        </p:txBody>
      </p:sp>
    </p:spTree>
    <p:extLst>
      <p:ext uri="{BB962C8B-B14F-4D97-AF65-F5344CB8AC3E}">
        <p14:creationId xmlns:p14="http://schemas.microsoft.com/office/powerpoint/2010/main" val="18745136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2-34">
            <a:extLst xmlns:a="http://schemas.openxmlformats.org/drawingml/2006/main">
              <a:ext uri="{FF2B5EF4-FFF2-40B4-BE49-F238E27FC236}">
                <a16:creationId xmlns:a16="http://schemas.microsoft.com/office/drawing/2014/main" id="{CD7D8554-FF43-47B2-9CFB-7D40590D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PC · SP · 상태 레지스터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A3EC0351-9271-4C77-B882-C80FE0F7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특별한 레지스터는 실행 흐름을 기억합니다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A869A42A-29A5-45CA-82DD-364ACEA3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4" name="box-42-190">
            <a:extLst xmlns:a="http://schemas.openxmlformats.org/drawingml/2006/main">
              <a:ext uri="{FF2B5EF4-FFF2-40B4-BE49-F238E27FC236}">
                <a16:creationId xmlns:a16="http://schemas.microsoft.com/office/drawing/2014/main" id="{CF995873-A3C6-4002-BA9E-B14BC965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14">
            <a:extLst xmlns:a="http://schemas.openxmlformats.org/drawingml/2006/main">
              <a:ext uri="{FF2B5EF4-FFF2-40B4-BE49-F238E27FC236}">
                <a16:creationId xmlns:a16="http://schemas.microsoft.com/office/drawing/2014/main" id="{565645BF-FEBB-42A0-9D54-E9749AE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PC</a:t>
            </a:r>
          </a:p>
        </p:txBody>
      </p:sp>
      <p:sp>
        <p:nvSpPr>
          <p:cNvPr id="6" name="text-66-272">
            <a:extLst xmlns:a="http://schemas.openxmlformats.org/drawingml/2006/main">
              <a:ext uri="{FF2B5EF4-FFF2-40B4-BE49-F238E27FC236}">
                <a16:creationId xmlns:a16="http://schemas.microsoft.com/office/drawing/2014/main" id="{6410DA33-E31F-453D-864F-CBB0E4E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876550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다음에 실행할
명령어 주소</a:t>
            </a:r>
          </a:p>
        </p:txBody>
      </p:sp>
      <p:sp>
        <p:nvSpPr>
          <p:cNvPr id="7" name="box-465-190">
            <a:extLst xmlns:a="http://schemas.openxmlformats.org/drawingml/2006/main">
              <a:ext uri="{FF2B5EF4-FFF2-40B4-BE49-F238E27FC236}">
                <a16:creationId xmlns:a16="http://schemas.microsoft.com/office/drawing/2014/main" id="{E7CEBDAF-8FD0-48AF-B220-FAD1CA3C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489-214">
            <a:extLst xmlns:a="http://schemas.openxmlformats.org/drawingml/2006/main">
              <a:ext uri="{FF2B5EF4-FFF2-40B4-BE49-F238E27FC236}">
                <a16:creationId xmlns:a16="http://schemas.microsoft.com/office/drawing/2014/main" id="{2EEA0467-13A6-4D9D-9D14-C12BAEBD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SP</a:t>
            </a:r>
          </a:p>
        </p:txBody>
      </p:sp>
      <p:sp>
        <p:nvSpPr>
          <p:cNvPr id="9" name="text-489-272">
            <a:extLst xmlns:a="http://schemas.openxmlformats.org/drawingml/2006/main">
              <a:ext uri="{FF2B5EF4-FFF2-40B4-BE49-F238E27FC236}">
                <a16:creationId xmlns:a16="http://schemas.microsoft.com/office/drawing/2014/main" id="{34A0DD85-03E0-4391-B200-465362F3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90800"/>
            <a:ext cx="2876550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현재 스택의
위치</a:t>
            </a:r>
          </a:p>
        </p:txBody>
      </p:sp>
      <p:sp>
        <p:nvSpPr>
          <p:cNvPr id="10" name="box-888-190">
            <a:extLst xmlns:a="http://schemas.openxmlformats.org/drawingml/2006/main">
              <a:ext uri="{FF2B5EF4-FFF2-40B4-BE49-F238E27FC236}">
                <a16:creationId xmlns:a16="http://schemas.microsoft.com/office/drawing/2014/main" id="{62DF2F03-0055-4E83-9C56-797859B0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2952750" cy="3238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912-214">
            <a:extLst xmlns:a="http://schemas.openxmlformats.org/drawingml/2006/main">
              <a:ext uri="{FF2B5EF4-FFF2-40B4-BE49-F238E27FC236}">
                <a16:creationId xmlns:a16="http://schemas.microsoft.com/office/drawing/2014/main" id="{6DCC34EF-A49C-4F36-897D-F6D8284A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Flags</a:t>
            </a:r>
          </a:p>
        </p:txBody>
      </p:sp>
      <p:sp>
        <p:nvSpPr>
          <p:cNvPr id="12" name="text-912-272">
            <a:extLst xmlns:a="http://schemas.openxmlformats.org/drawingml/2006/main">
              <a:ext uri="{FF2B5EF4-FFF2-40B4-BE49-F238E27FC236}">
                <a16:creationId xmlns:a16="http://schemas.microsoft.com/office/drawing/2014/main" id="{87FAB7C7-F907-419B-B2D7-CBB6012E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90800"/>
            <a:ext cx="2495550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0인가?
음수인가?
넘쳤는가?</a:t>
            </a:r>
          </a:p>
        </p:txBody>
      </p:sp>
      <p:sp>
        <p:nvSpPr>
          <p:cNvPr id="13" name="text-42-580">
            <a:extLst xmlns:a="http://schemas.openxmlformats.org/drawingml/2006/main">
              <a:ext uri="{FF2B5EF4-FFF2-40B4-BE49-F238E27FC236}">
                <a16:creationId xmlns:a16="http://schemas.microsoft.com/office/drawing/2014/main" id="{07B64BB8-92D8-44FD-BAB4-F768BE16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76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분기와 함수 호출도 결국 ‘다음 위치’를 바꾸는 일입니다.</a:t>
            </a:r>
          </a:p>
        </p:txBody>
      </p:sp>
    </p:spTree>
    <p:extLst>
      <p:ext uri="{BB962C8B-B14F-4D97-AF65-F5344CB8AC3E}">
        <p14:creationId xmlns:p14="http://schemas.microsoft.com/office/powerpoint/2010/main" val="1213256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2-34">
            <a:extLst xmlns:a="http://schemas.openxmlformats.org/drawingml/2006/main">
              <a:ext uri="{FF2B5EF4-FFF2-40B4-BE49-F238E27FC236}">
                <a16:creationId xmlns:a16="http://schemas.microsoft.com/office/drawing/2014/main" id="{F578CEAB-C81B-4DFE-97C3-3EFC5DBD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실행 유닛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827E78C5-6067-4068-B675-4F1CDEB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실행 유닛마다 잘하는 일이 다릅니다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5894BA4F-E606-4685-8F6A-3AC7BF6D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10</a:t>
            </a:r>
          </a:p>
        </p:txBody>
      </p:sp>
      <p:sp>
        <p:nvSpPr>
          <p:cNvPr id="4" name="box-42-175">
            <a:extLst xmlns:a="http://schemas.openxmlformats.org/drawingml/2006/main">
              <a:ext uri="{FF2B5EF4-FFF2-40B4-BE49-F238E27FC236}">
                <a16:creationId xmlns:a16="http://schemas.microsoft.com/office/drawing/2014/main" id="{946619E5-73D3-4A35-8BC4-3D7B1581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2571750" cy="3429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199">
            <a:extLst xmlns:a="http://schemas.openxmlformats.org/drawingml/2006/main">
              <a:ext uri="{FF2B5EF4-FFF2-40B4-BE49-F238E27FC236}">
                <a16:creationId xmlns:a16="http://schemas.microsoft.com/office/drawing/2014/main" id="{21F1FFAF-A622-4437-855D-158CA2CC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ALU</a:t>
            </a:r>
          </a:p>
        </p:txBody>
      </p:sp>
      <p:sp>
        <p:nvSpPr>
          <p:cNvPr id="6" name="text-66-257">
            <a:extLst xmlns:a="http://schemas.openxmlformats.org/drawingml/2006/main">
              <a:ext uri="{FF2B5EF4-FFF2-40B4-BE49-F238E27FC236}">
                <a16:creationId xmlns:a16="http://schemas.microsoft.com/office/drawing/2014/main" id="{FC93AB91-AF07-48CF-9997-2AABEF6E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1145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정수 계산
비교
논리·비트 연산</a:t>
            </a:r>
          </a:p>
        </p:txBody>
      </p:sp>
      <p:sp>
        <p:nvSpPr>
          <p:cNvPr id="7" name="box-338-175">
            <a:extLst xmlns:a="http://schemas.openxmlformats.org/drawingml/2006/main">
              <a:ext uri="{FF2B5EF4-FFF2-40B4-BE49-F238E27FC236}">
                <a16:creationId xmlns:a16="http://schemas.microsoft.com/office/drawing/2014/main" id="{758F9093-8DF8-410D-B65F-37B363D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66875"/>
            <a:ext cx="2571750" cy="3429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362-199">
            <a:extLst xmlns:a="http://schemas.openxmlformats.org/drawingml/2006/main">
              <a:ext uri="{FF2B5EF4-FFF2-40B4-BE49-F238E27FC236}">
                <a16:creationId xmlns:a16="http://schemas.microsoft.com/office/drawing/2014/main" id="{D10CA5A9-3671-405B-8A86-A4650AF1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FPU</a:t>
            </a:r>
          </a:p>
        </p:txBody>
      </p:sp>
      <p:sp>
        <p:nvSpPr>
          <p:cNvPr id="9" name="text-362-257">
            <a:extLst xmlns:a="http://schemas.openxmlformats.org/drawingml/2006/main">
              <a:ext uri="{FF2B5EF4-FFF2-40B4-BE49-F238E27FC236}">
                <a16:creationId xmlns:a16="http://schemas.microsoft.com/office/drawing/2014/main" id="{D113352E-729E-4341-8780-CFA68F5D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47925"/>
            <a:ext cx="21145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소수 계산
위치·회전
물리 연산</a:t>
            </a:r>
          </a:p>
        </p:txBody>
      </p:sp>
      <p:sp>
        <p:nvSpPr>
          <p:cNvPr id="10" name="box-634-175">
            <a:extLst xmlns:a="http://schemas.openxmlformats.org/drawingml/2006/main">
              <a:ext uri="{FF2B5EF4-FFF2-40B4-BE49-F238E27FC236}">
                <a16:creationId xmlns:a16="http://schemas.microsoft.com/office/drawing/2014/main" id="{EF7FD608-4B32-4905-8070-E6F49764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2571750" cy="3429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658-199">
            <a:extLst xmlns:a="http://schemas.openxmlformats.org/drawingml/2006/main">
              <a:ext uri="{FF2B5EF4-FFF2-40B4-BE49-F238E27FC236}">
                <a16:creationId xmlns:a16="http://schemas.microsoft.com/office/drawing/2014/main" id="{C33266A7-EB6E-4A29-96E6-CBD365D9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95475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SIMD</a:t>
            </a:r>
          </a:p>
        </p:txBody>
      </p:sp>
      <p:sp>
        <p:nvSpPr>
          <p:cNvPr id="12" name="text-658-257">
            <a:extLst xmlns:a="http://schemas.openxmlformats.org/drawingml/2006/main">
              <a:ext uri="{FF2B5EF4-FFF2-40B4-BE49-F238E27FC236}">
                <a16:creationId xmlns:a16="http://schemas.microsoft.com/office/drawing/2014/main" id="{4191E349-50DE-499A-BF58-CC66A312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47925"/>
            <a:ext cx="21145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여러 값을
한 번에 계산</a:t>
            </a:r>
          </a:p>
        </p:txBody>
      </p:sp>
      <p:sp>
        <p:nvSpPr>
          <p:cNvPr id="13" name="box-930-175">
            <a:extLst xmlns:a="http://schemas.openxmlformats.org/drawingml/2006/main">
              <a:ext uri="{FF2B5EF4-FFF2-40B4-BE49-F238E27FC236}">
                <a16:creationId xmlns:a16="http://schemas.microsoft.com/office/drawing/2014/main" id="{A0CBD1B3-B60C-4F0C-866F-C5BA725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571750" cy="3429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text-954-199">
            <a:extLst xmlns:a="http://schemas.openxmlformats.org/drawingml/2006/main">
              <a:ext uri="{FF2B5EF4-FFF2-40B4-BE49-F238E27FC236}">
                <a16:creationId xmlns:a16="http://schemas.microsoft.com/office/drawing/2014/main" id="{2EBC91A2-B6D1-454D-AB8A-FEBDAD74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95475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Load / Store</a:t>
            </a:r>
          </a:p>
        </p:txBody>
      </p:sp>
      <p:sp>
        <p:nvSpPr>
          <p:cNvPr id="15" name="text-954-257">
            <a:extLst xmlns:a="http://schemas.openxmlformats.org/drawingml/2006/main">
              <a:ext uri="{FF2B5EF4-FFF2-40B4-BE49-F238E27FC236}">
                <a16:creationId xmlns:a16="http://schemas.microsoft.com/office/drawing/2014/main" id="{2EF9AF73-E158-4057-8B50-F890EECC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47925"/>
            <a:ext cx="21145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메모리에서 읽고
다시 저장</a:t>
            </a:r>
          </a:p>
        </p:txBody>
      </p:sp>
    </p:spTree>
    <p:extLst>
      <p:ext uri="{BB962C8B-B14F-4D97-AF65-F5344CB8AC3E}">
        <p14:creationId xmlns:p14="http://schemas.microsoft.com/office/powerpoint/2010/main" val="2108245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2-34">
            <a:extLst xmlns:a="http://schemas.openxmlformats.org/drawingml/2006/main">
              <a:ext uri="{FF2B5EF4-FFF2-40B4-BE49-F238E27FC236}">
                <a16:creationId xmlns:a16="http://schemas.microsoft.com/office/drawing/2014/main" id="{9F528BB2-37EB-4787-A55A-94DA23DB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한 명령어 · 여러 데이터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1AD4CD0C-77C0-4885-B328-F2E42446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SIMD는 같은 일을 여러 데이터에 동시에 합니다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A17AEE7D-C4EB-4ECD-95D1-71225736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11</a:t>
            </a:r>
          </a:p>
        </p:txBody>
      </p:sp>
      <p:sp>
        <p:nvSpPr>
          <p:cNvPr id="4" name="text-42-190">
            <a:extLst xmlns:a="http://schemas.openxmlformats.org/drawingml/2006/main">
              <a:ext uri="{FF2B5EF4-FFF2-40B4-BE49-F238E27FC236}">
                <a16:creationId xmlns:a16="http://schemas.microsoft.com/office/drawing/2014/main" id="{CC099289-9E94-48B5-A7F5-191E8AD9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일반 계산</a:t>
            </a:r>
          </a:p>
        </p:txBody>
      </p:sp>
      <p:sp>
        <p:nvSpPr>
          <p:cNvPr id="5" name="text-42-255">
            <a:extLst xmlns:a="http://schemas.openxmlformats.org/drawingml/2006/main">
              <a:ext uri="{FF2B5EF4-FFF2-40B4-BE49-F238E27FC236}">
                <a16:creationId xmlns:a16="http://schemas.microsoft.com/office/drawing/2014/main" id="{D74DE995-46E4-4B56-A0F2-621248EA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3337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a1+b1
a2+b2
a3+b3
a4+b4</a:t>
            </a:r>
          </a:p>
        </p:txBody>
      </p:sp>
      <p:sp>
        <p:nvSpPr>
          <p:cNvPr id="6" name="text-520-190">
            <a:extLst xmlns:a="http://schemas.openxmlformats.org/drawingml/2006/main">
              <a:ext uri="{FF2B5EF4-FFF2-40B4-BE49-F238E27FC236}">
                <a16:creationId xmlns:a16="http://schemas.microsoft.com/office/drawing/2014/main" id="{B5B71F58-94CE-43DB-A39C-51C81895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SIMD</a:t>
            </a:r>
          </a:p>
        </p:txBody>
      </p:sp>
      <p:sp>
        <p:nvSpPr>
          <p:cNvPr id="7" name="box-520-255">
            <a:extLst xmlns:a="http://schemas.openxmlformats.org/drawingml/2006/main">
              <a:ext uri="{FF2B5EF4-FFF2-40B4-BE49-F238E27FC236}">
                <a16:creationId xmlns:a16="http://schemas.microsoft.com/office/drawing/2014/main" id="{BB197256-95E0-4305-B324-26FC4D4D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619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550-286">
            <a:extLst xmlns:a="http://schemas.openxmlformats.org/drawingml/2006/main">
              <a:ext uri="{FF2B5EF4-FFF2-40B4-BE49-F238E27FC236}">
                <a16:creationId xmlns:a16="http://schemas.microsoft.com/office/drawing/2014/main" id="{AF3D8B3C-5C9E-4BF3-BBC0-70934B57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5619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[ a1  a2  a3  a4 ]</a:t>
            </a:r>
          </a:p>
        </p:txBody>
      </p:sp>
      <p:sp>
        <p:nvSpPr>
          <p:cNvPr id="9" name="box-520-410">
            <a:extLst xmlns:a="http://schemas.openxmlformats.org/drawingml/2006/main">
              <a:ext uri="{FF2B5EF4-FFF2-40B4-BE49-F238E27FC236}">
                <a16:creationId xmlns:a16="http://schemas.microsoft.com/office/drawing/2014/main" id="{F7686C9C-5ED8-469A-8A27-DA260E22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text-550-441">
            <a:extLst xmlns:a="http://schemas.openxmlformats.org/drawingml/2006/main">
              <a:ext uri="{FF2B5EF4-FFF2-40B4-BE49-F238E27FC236}">
                <a16:creationId xmlns:a16="http://schemas.microsoft.com/office/drawing/2014/main" id="{3466C84C-7E7C-4BF2-AFB8-CA7699C8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00525"/>
            <a:ext cx="5619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[ b1  b2  b3  b4 ]</a:t>
            </a:r>
          </a:p>
        </p:txBody>
      </p:sp>
      <p:sp>
        <p:nvSpPr>
          <p:cNvPr id="11" name="text-700-555">
            <a:extLst xmlns:a="http://schemas.openxmlformats.org/drawingml/2006/main">
              <a:ext uri="{FF2B5EF4-FFF2-40B4-BE49-F238E27FC236}">
                <a16:creationId xmlns:a16="http://schemas.microsoft.com/office/drawing/2014/main" id="{FBFE003D-94D1-4E09-9069-04789F78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↓ 한 번에 더하기</a:t>
            </a:r>
          </a:p>
        </p:txBody>
      </p:sp>
    </p:spTree>
    <p:extLst>
      <p:ext uri="{BB962C8B-B14F-4D97-AF65-F5344CB8AC3E}">
        <p14:creationId xmlns:p14="http://schemas.microsoft.com/office/powerpoint/2010/main" val="14009861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2-34">
            <a:extLst xmlns:a="http://schemas.openxmlformats.org/drawingml/2006/main">
              <a:ext uri="{FF2B5EF4-FFF2-40B4-BE49-F238E27FC236}">
                <a16:creationId xmlns:a16="http://schemas.microsoft.com/office/drawing/2014/main" id="{118444AC-FBAD-4D32-9CF9-3004367D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메모리 병목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3CA51587-B1E4-4AE9-B279-1FE2A892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CPU가 기다리는 가장 흔한 이유는 메모리입니다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13F113DF-7EB6-4DEE-B120-3402A213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12</a:t>
            </a:r>
          </a:p>
        </p:txBody>
      </p:sp>
      <p:sp>
        <p:nvSpPr>
          <p:cNvPr id="4" name="text-42-205">
            <a:extLst xmlns:a="http://schemas.openxmlformats.org/drawingml/2006/main">
              <a:ext uri="{FF2B5EF4-FFF2-40B4-BE49-F238E27FC236}">
                <a16:creationId xmlns:a16="http://schemas.microsoft.com/office/drawing/2014/main" id="{68C4C3AC-43EF-43D0-B1A0-C0967E7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계산</a:t>
            </a:r>
          </a:p>
        </p:txBody>
      </p:sp>
      <p:sp>
        <p:nvSpPr>
          <p:cNvPr id="5" name="text-42-290">
            <a:extLst xmlns:a="http://schemas.openxmlformats.org/drawingml/2006/main">
              <a:ext uri="{FF2B5EF4-FFF2-40B4-BE49-F238E27FC236}">
                <a16:creationId xmlns:a16="http://schemas.microsoft.com/office/drawing/2014/main" id="{453664A3-2B57-4ED5-8146-16F5D304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빠름</a:t>
            </a:r>
          </a:p>
        </p:txBody>
      </p:sp>
      <p:sp>
        <p:nvSpPr>
          <p:cNvPr id="6" name="text-505-205">
            <a:extLst xmlns:a="http://schemas.openxmlformats.org/drawingml/2006/main">
              <a:ext uri="{FF2B5EF4-FFF2-40B4-BE49-F238E27FC236}">
                <a16:creationId xmlns:a16="http://schemas.microsoft.com/office/drawing/2014/main" id="{B4C2D8E8-1CF3-4938-95F4-9C36975F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데이터 가져오기</a:t>
            </a:r>
          </a:p>
        </p:txBody>
      </p:sp>
      <p:sp>
        <p:nvSpPr>
          <p:cNvPr id="7" name="text-505-290">
            <a:extLst xmlns:a="http://schemas.openxmlformats.org/drawingml/2006/main">
              <a:ext uri="{FF2B5EF4-FFF2-40B4-BE49-F238E27FC236}">
                <a16:creationId xmlns:a16="http://schemas.microsoft.com/office/drawing/2014/main" id="{EBE8E42A-A955-411E-93A7-1C62C48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62250"/>
            <a:ext cx="4095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상대적으로 느림</a:t>
            </a:r>
          </a:p>
        </p:txBody>
      </p:sp>
      <p:sp>
        <p:nvSpPr>
          <p:cNvPr id="8" name="box-42-400">
            <a:extLst xmlns:a="http://schemas.openxmlformats.org/drawingml/2006/main">
              <a:ext uri="{FF2B5EF4-FFF2-40B4-BE49-F238E27FC236}">
                <a16:creationId xmlns:a16="http://schemas.microsoft.com/office/drawing/2014/main" id="{19AD996C-1D2D-4BEE-9121-5AFD3AB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066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text-75-436">
            <a:extLst xmlns:a="http://schemas.openxmlformats.org/drawingml/2006/main">
              <a:ext uri="{FF2B5EF4-FFF2-40B4-BE49-F238E27FC236}">
                <a16:creationId xmlns:a16="http://schemas.microsoft.com/office/drawing/2014/main" id="{86F9F022-F630-4A26-8DEF-DBAF74BE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52900"/>
            <a:ext cx="10096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CPU: ‘계산은 끝났는데, 데이터가 아직 안 왔어요.’</a:t>
            </a:r>
          </a:p>
        </p:txBody>
      </p:sp>
      <p:sp>
        <p:nvSpPr>
          <p:cNvPr id="10" name="text-42-570">
            <a:extLst xmlns:a="http://schemas.openxmlformats.org/drawingml/2006/main">
              <a:ext uri="{FF2B5EF4-FFF2-40B4-BE49-F238E27FC236}">
                <a16:creationId xmlns:a16="http://schemas.microsoft.com/office/drawing/2014/main" id="{AB39CFC1-05CE-4D74-85B7-B30C5CBC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857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그래서 CPU 가까이에 캐시를 둡니다.</a:t>
            </a:r>
          </a:p>
        </p:txBody>
      </p:sp>
    </p:spTree>
    <p:extLst>
      <p:ext uri="{BB962C8B-B14F-4D97-AF65-F5344CB8AC3E}">
        <p14:creationId xmlns:p14="http://schemas.microsoft.com/office/powerpoint/2010/main" val="7703060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42-34">
            <a:extLst xmlns:a="http://schemas.openxmlformats.org/drawingml/2006/main">
              <a:ext uri="{FF2B5EF4-FFF2-40B4-BE49-F238E27FC236}">
                <a16:creationId xmlns:a16="http://schemas.microsoft.com/office/drawing/2014/main" id="{3C88CE35-A6FD-459F-9EE1-84CDC1C5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메모리 계층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34F79468-15D9-43B3-B3B4-7AA0282E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메모리는 빠를수록 작고 비쌉니다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792FE3AD-EFA6-490C-81B8-24A55765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13</a:t>
            </a:r>
          </a:p>
        </p:txBody>
      </p:sp>
      <p:sp>
        <p:nvSpPr>
          <p:cNvPr id="4" name="box-60-170">
            <a:extLst xmlns:a="http://schemas.openxmlformats.org/drawingml/2006/main">
              <a:ext uri="{FF2B5EF4-FFF2-40B4-BE49-F238E27FC236}">
                <a16:creationId xmlns:a16="http://schemas.microsoft.com/office/drawing/2014/main" id="{742A4FCC-743D-48F4-8A7D-C04E4F4B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84-194">
            <a:extLst xmlns:a="http://schemas.openxmlformats.org/drawingml/2006/main">
              <a:ext uri="{FF2B5EF4-FFF2-40B4-BE49-F238E27FC236}">
                <a16:creationId xmlns:a16="http://schemas.microsoft.com/office/drawing/2014/main" id="{458FFA60-CE30-4ECE-B859-141ABA00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레지스터</a:t>
            </a:r>
          </a:p>
        </p:txBody>
      </p:sp>
      <p:sp>
        <p:nvSpPr>
          <p:cNvPr id="6" name="text-84-252">
            <a:extLst xmlns:a="http://schemas.openxmlformats.org/drawingml/2006/main">
              <a:ext uri="{FF2B5EF4-FFF2-40B4-BE49-F238E27FC236}">
                <a16:creationId xmlns:a16="http://schemas.microsoft.com/office/drawing/2014/main" id="{74A5B5F1-F11B-40CD-8519-9AEF8A8D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5430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가장 빠름</a:t>
            </a:r>
          </a:p>
        </p:txBody>
      </p:sp>
      <p:sp>
        <p:nvSpPr>
          <p:cNvPr id="7" name="box-285-215">
            <a:extLst xmlns:a="http://schemas.openxmlformats.org/drawingml/2006/main">
              <a:ext uri="{FF2B5EF4-FFF2-40B4-BE49-F238E27FC236}">
                <a16:creationId xmlns:a16="http://schemas.microsoft.com/office/drawing/2014/main" id="{0E4F7461-8E61-4097-9D18-C83E8D46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47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309-239">
            <a:extLst xmlns:a="http://schemas.openxmlformats.org/drawingml/2006/main">
              <a:ext uri="{FF2B5EF4-FFF2-40B4-BE49-F238E27FC236}">
                <a16:creationId xmlns:a16="http://schemas.microsoft.com/office/drawing/2014/main" id="{9D62879D-6343-4A98-A4D8-72FAFF48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76475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L1 캐시</a:t>
            </a:r>
          </a:p>
        </p:txBody>
      </p:sp>
      <p:sp>
        <p:nvSpPr>
          <p:cNvPr id="9" name="text-309-297">
            <a:extLst xmlns:a="http://schemas.openxmlformats.org/drawingml/2006/main">
              <a:ext uri="{FF2B5EF4-FFF2-40B4-BE49-F238E27FC236}">
                <a16:creationId xmlns:a16="http://schemas.microsoft.com/office/drawing/2014/main" id="{618171A7-01DA-4119-A028-DB1A9D9D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28925"/>
            <a:ext cx="15430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매우 빠름</a:t>
            </a:r>
          </a:p>
        </p:txBody>
      </p:sp>
      <p:sp>
        <p:nvSpPr>
          <p:cNvPr id="10" name="box-510-260">
            <a:extLst xmlns:a="http://schemas.openxmlformats.org/drawingml/2006/main">
              <a:ext uri="{FF2B5EF4-FFF2-40B4-BE49-F238E27FC236}">
                <a16:creationId xmlns:a16="http://schemas.microsoft.com/office/drawing/2014/main" id="{84FF23FB-BA42-47C9-93EE-FA47E45F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A5F3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534-284">
            <a:extLst xmlns:a="http://schemas.openxmlformats.org/drawingml/2006/main">
              <a:ext uri="{FF2B5EF4-FFF2-40B4-BE49-F238E27FC236}">
                <a16:creationId xmlns:a16="http://schemas.microsoft.com/office/drawing/2014/main" id="{7539FC69-108C-47CC-B14D-DD11F794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05100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L2 캐시</a:t>
            </a:r>
          </a:p>
        </p:txBody>
      </p:sp>
      <p:sp>
        <p:nvSpPr>
          <p:cNvPr id="12" name="text-534-342">
            <a:extLst xmlns:a="http://schemas.openxmlformats.org/drawingml/2006/main">
              <a:ext uri="{FF2B5EF4-FFF2-40B4-BE49-F238E27FC236}">
                <a16:creationId xmlns:a16="http://schemas.microsoft.com/office/drawing/2014/main" id="{3048C885-F5B6-43C6-8EEC-003C912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57550"/>
            <a:ext cx="15430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빠름</a:t>
            </a:r>
          </a:p>
        </p:txBody>
      </p:sp>
      <p:sp>
        <p:nvSpPr>
          <p:cNvPr id="13" name="box-735-305">
            <a:extLst xmlns:a="http://schemas.openxmlformats.org/drawingml/2006/main">
              <a:ext uri="{FF2B5EF4-FFF2-40B4-BE49-F238E27FC236}">
                <a16:creationId xmlns:a16="http://schemas.microsoft.com/office/drawing/2014/main" id="{67BFAC7E-5B1E-4B00-99BC-CC3F53C2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text-759-329">
            <a:extLst xmlns:a="http://schemas.openxmlformats.org/drawingml/2006/main">
              <a:ext uri="{FF2B5EF4-FFF2-40B4-BE49-F238E27FC236}">
                <a16:creationId xmlns:a16="http://schemas.microsoft.com/office/drawing/2014/main" id="{F3334E85-081C-488E-B58F-32CA667A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33725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L3 캐시</a:t>
            </a:r>
          </a:p>
        </p:txBody>
      </p:sp>
      <p:sp>
        <p:nvSpPr>
          <p:cNvPr id="15" name="text-759-387">
            <a:extLst xmlns:a="http://schemas.openxmlformats.org/drawingml/2006/main">
              <a:ext uri="{FF2B5EF4-FFF2-40B4-BE49-F238E27FC236}">
                <a16:creationId xmlns:a16="http://schemas.microsoft.com/office/drawing/2014/main" id="{AAD2EA76-83E7-4269-B31F-C5983044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86175"/>
            <a:ext cx="15430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여러 코어 공유</a:t>
            </a:r>
          </a:p>
        </p:txBody>
      </p:sp>
      <p:sp>
        <p:nvSpPr>
          <p:cNvPr id="16" name="box-960-350">
            <a:extLst xmlns:a="http://schemas.openxmlformats.org/drawingml/2006/main">
              <a:ext uri="{FF2B5EF4-FFF2-40B4-BE49-F238E27FC236}">
                <a16:creationId xmlns:a16="http://schemas.microsoft.com/office/drawing/2014/main" id="{5E34E818-85DD-45C2-9B23-7B3FE71E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text-984-374">
            <a:extLst xmlns:a="http://schemas.openxmlformats.org/drawingml/2006/main">
              <a:ext uri="{FF2B5EF4-FFF2-40B4-BE49-F238E27FC236}">
                <a16:creationId xmlns:a16="http://schemas.microsoft.com/office/drawing/2014/main" id="{A4957228-6270-4033-BA1F-23AC4944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RAM</a:t>
            </a:r>
          </a:p>
        </p:txBody>
      </p:sp>
      <p:sp>
        <p:nvSpPr>
          <p:cNvPr id="18" name="text-984-432">
            <a:extLst xmlns:a="http://schemas.openxmlformats.org/drawingml/2006/main">
              <a:ext uri="{FF2B5EF4-FFF2-40B4-BE49-F238E27FC236}">
                <a16:creationId xmlns:a16="http://schemas.microsoft.com/office/drawing/2014/main" id="{D7F453D1-32B9-4627-9C73-5C1BD653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14800"/>
            <a:ext cx="15430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크지만 느림</a:t>
            </a:r>
          </a:p>
        </p:txBody>
      </p:sp>
      <p:sp>
        <p:nvSpPr>
          <p:cNvPr id="19" name="text-60-500">
            <a:extLst xmlns:a="http://schemas.openxmlformats.org/drawingml/2006/main">
              <a:ext uri="{FF2B5EF4-FFF2-40B4-BE49-F238E27FC236}">
                <a16:creationId xmlns:a16="http://schemas.microsoft.com/office/drawing/2014/main" id="{4AAFA0F6-7B5B-4AAB-9BD3-29612090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← 빠르고 작음</a:t>
            </a:r>
          </a:p>
        </p:txBody>
      </p:sp>
      <p:sp>
        <p:nvSpPr>
          <p:cNvPr id="20" name="text-900-500">
            <a:extLst xmlns:a="http://schemas.openxmlformats.org/drawingml/2006/main">
              <a:ext uri="{FF2B5EF4-FFF2-40B4-BE49-F238E27FC236}">
                <a16:creationId xmlns:a16="http://schemas.microsoft.com/office/drawing/2014/main" id="{45FAEF77-08CC-4E5B-88E7-9D714633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57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크고 느림 →</a:t>
            </a:r>
          </a:p>
        </p:txBody>
      </p:sp>
    </p:spTree>
    <p:extLst>
      <p:ext uri="{BB962C8B-B14F-4D97-AF65-F5344CB8AC3E}">
        <p14:creationId xmlns:p14="http://schemas.microsoft.com/office/powerpoint/2010/main" val="6122610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ext-42-34">
            <a:extLst xmlns:a="http://schemas.openxmlformats.org/drawingml/2006/main">
              <a:ext uri="{FF2B5EF4-FFF2-40B4-BE49-F238E27FC236}">
                <a16:creationId xmlns:a16="http://schemas.microsoft.com/office/drawing/2014/main" id="{716CB039-FDA8-4BD6-8BD1-9F401802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캐시 라인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83E2C579-5E95-4CBE-B3C2-90ADAB1C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캐시는 한 변수보다 주변을 함께 가져옵니다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8BDCBD9C-8E6A-4A92-8884-7F5807E9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14</a:t>
            </a:r>
          </a:p>
        </p:txBody>
      </p:sp>
      <p:sp>
        <p:nvSpPr>
          <p:cNvPr id="4" name="text-42-180">
            <a:extLst xmlns:a="http://schemas.openxmlformats.org/drawingml/2006/main">
              <a:ext uri="{FF2B5EF4-FFF2-40B4-BE49-F238E27FC236}">
                <a16:creationId xmlns:a16="http://schemas.microsoft.com/office/drawing/2014/main" id="{26A5A496-CFE2-4B5E-AE27-0E36D906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000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int values[16]</a:t>
            </a:r>
          </a:p>
        </p:txBody>
      </p:sp>
      <p:sp>
        <p:nvSpPr>
          <p:cNvPr id="5" name="box-42-285">
            <a:extLst xmlns:a="http://schemas.openxmlformats.org/drawingml/2006/main">
              <a:ext uri="{FF2B5EF4-FFF2-40B4-BE49-F238E27FC236}">
                <a16:creationId xmlns:a16="http://schemas.microsoft.com/office/drawing/2014/main" id="{A1DEB073-6116-429D-9609-A379C552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box-112-285">
            <a:extLst xmlns:a="http://schemas.openxmlformats.org/drawingml/2006/main">
              <a:ext uri="{FF2B5EF4-FFF2-40B4-BE49-F238E27FC236}">
                <a16:creationId xmlns:a16="http://schemas.microsoft.com/office/drawing/2014/main" id="{E855D1F5-9516-4CE1-8B26-EDF9AF5D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box-182-285">
            <a:extLst xmlns:a="http://schemas.openxmlformats.org/drawingml/2006/main">
              <a:ext uri="{FF2B5EF4-FFF2-40B4-BE49-F238E27FC236}">
                <a16:creationId xmlns:a16="http://schemas.microsoft.com/office/drawing/2014/main" id="{588F7AC8-0577-4E95-A064-982D5F1A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box-252-285">
            <a:extLst xmlns:a="http://schemas.openxmlformats.org/drawingml/2006/main">
              <a:ext uri="{FF2B5EF4-FFF2-40B4-BE49-F238E27FC236}">
                <a16:creationId xmlns:a16="http://schemas.microsoft.com/office/drawing/2014/main" id="{E85B7548-E90E-4021-A9E9-7085CCDC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box-322-285">
            <a:extLst xmlns:a="http://schemas.openxmlformats.org/drawingml/2006/main">
              <a:ext uri="{FF2B5EF4-FFF2-40B4-BE49-F238E27FC236}">
                <a16:creationId xmlns:a16="http://schemas.microsoft.com/office/drawing/2014/main" id="{FABBBC9D-B260-46D8-ABBC-2784B41F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box-392-285">
            <a:extLst xmlns:a="http://schemas.openxmlformats.org/drawingml/2006/main">
              <a:ext uri="{FF2B5EF4-FFF2-40B4-BE49-F238E27FC236}">
                <a16:creationId xmlns:a16="http://schemas.microsoft.com/office/drawing/2014/main" id="{498F8B6D-3B2E-4FF1-9F66-BC775B99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box-462-285">
            <a:extLst xmlns:a="http://schemas.openxmlformats.org/drawingml/2006/main">
              <a:ext uri="{FF2B5EF4-FFF2-40B4-BE49-F238E27FC236}">
                <a16:creationId xmlns:a16="http://schemas.microsoft.com/office/drawing/2014/main" id="{F0F562C7-004D-4ECF-BECF-38A2BAE3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box-532-285">
            <a:extLst xmlns:a="http://schemas.openxmlformats.org/drawingml/2006/main">
              <a:ext uri="{FF2B5EF4-FFF2-40B4-BE49-F238E27FC236}">
                <a16:creationId xmlns:a16="http://schemas.microsoft.com/office/drawing/2014/main" id="{BA38F8E5-7A7A-4B7F-964F-D5CEE9EB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box-602-285">
            <a:extLst xmlns:a="http://schemas.openxmlformats.org/drawingml/2006/main">
              <a:ext uri="{FF2B5EF4-FFF2-40B4-BE49-F238E27FC236}">
                <a16:creationId xmlns:a16="http://schemas.microsoft.com/office/drawing/2014/main" id="{E24E851D-BE7B-4D1B-9FD5-F442D45D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box-672-285">
            <a:extLst xmlns:a="http://schemas.openxmlformats.org/drawingml/2006/main">
              <a:ext uri="{FF2B5EF4-FFF2-40B4-BE49-F238E27FC236}">
                <a16:creationId xmlns:a16="http://schemas.microsoft.com/office/drawing/2014/main" id="{A48D8943-9AE2-425C-8646-4DDCD811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box-742-285">
            <a:extLst xmlns:a="http://schemas.openxmlformats.org/drawingml/2006/main">
              <a:ext uri="{FF2B5EF4-FFF2-40B4-BE49-F238E27FC236}">
                <a16:creationId xmlns:a16="http://schemas.microsoft.com/office/drawing/2014/main" id="{F76D85D2-2C72-4ABB-9BE2-96FB06A3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box-812-285">
            <a:extLst xmlns:a="http://schemas.openxmlformats.org/drawingml/2006/main">
              <a:ext uri="{FF2B5EF4-FFF2-40B4-BE49-F238E27FC236}">
                <a16:creationId xmlns:a16="http://schemas.microsoft.com/office/drawing/2014/main" id="{C5928CDE-1351-47DF-9F0A-9D17B429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box-882-285">
            <a:extLst xmlns:a="http://schemas.openxmlformats.org/drawingml/2006/main">
              <a:ext uri="{FF2B5EF4-FFF2-40B4-BE49-F238E27FC236}">
                <a16:creationId xmlns:a16="http://schemas.microsoft.com/office/drawing/2014/main" id="{0AAC2852-613E-45B7-93C6-951270F7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box-952-285">
            <a:extLst xmlns:a="http://schemas.openxmlformats.org/drawingml/2006/main">
              <a:ext uri="{FF2B5EF4-FFF2-40B4-BE49-F238E27FC236}">
                <a16:creationId xmlns:a16="http://schemas.microsoft.com/office/drawing/2014/main" id="{31BC1410-9519-41EB-B35B-81A13720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box-1022-285">
            <a:extLst xmlns:a="http://schemas.openxmlformats.org/drawingml/2006/main">
              <a:ext uri="{FF2B5EF4-FFF2-40B4-BE49-F238E27FC236}">
                <a16:creationId xmlns:a16="http://schemas.microsoft.com/office/drawing/2014/main" id="{A83D7299-00B8-4269-8951-AB740AFA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box-1092-285">
            <a:extLst xmlns:a="http://schemas.openxmlformats.org/drawingml/2006/main">
              <a:ext uri="{FF2B5EF4-FFF2-40B4-BE49-F238E27FC236}">
                <a16:creationId xmlns:a16="http://schemas.microsoft.com/office/drawing/2014/main" id="{729D08C8-6888-425B-B5E8-059DF2AC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14625"/>
            <a:ext cx="57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text-42-307">
            <a:extLst xmlns:a="http://schemas.openxmlformats.org/drawingml/2006/main">
              <a:ext uri="{FF2B5EF4-FFF2-40B4-BE49-F238E27FC236}">
                <a16:creationId xmlns:a16="http://schemas.microsoft.com/office/drawing/2014/main" id="{BB9FA3B2-FF22-4E06-B0A9-37D7D11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0</a:t>
            </a:r>
          </a:p>
        </p:txBody>
      </p:sp>
      <p:sp>
        <p:nvSpPr>
          <p:cNvPr id="22" name="text-112-307">
            <a:extLst xmlns:a="http://schemas.openxmlformats.org/drawingml/2006/main">
              <a:ext uri="{FF2B5EF4-FFF2-40B4-BE49-F238E27FC236}">
                <a16:creationId xmlns:a16="http://schemas.microsoft.com/office/drawing/2014/main" id="{1F528D47-DDE1-480F-9031-5D5F4390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23" name="text-182-307">
            <a:extLst xmlns:a="http://schemas.openxmlformats.org/drawingml/2006/main">
              <a:ext uri="{FF2B5EF4-FFF2-40B4-BE49-F238E27FC236}">
                <a16:creationId xmlns:a16="http://schemas.microsoft.com/office/drawing/2014/main" id="{1DDB3FDF-0D59-4EB5-8047-4E57CE6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24" name="text-252-307">
            <a:extLst xmlns:a="http://schemas.openxmlformats.org/drawingml/2006/main">
              <a:ext uri="{FF2B5EF4-FFF2-40B4-BE49-F238E27FC236}">
                <a16:creationId xmlns:a16="http://schemas.microsoft.com/office/drawing/2014/main" id="{F4FC405B-250F-45BC-B3A8-430F3BB3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25" name="text-322-307">
            <a:extLst xmlns:a="http://schemas.openxmlformats.org/drawingml/2006/main">
              <a:ext uri="{FF2B5EF4-FFF2-40B4-BE49-F238E27FC236}">
                <a16:creationId xmlns:a16="http://schemas.microsoft.com/office/drawing/2014/main" id="{BD836F4F-3500-49EE-85E5-82FB35A0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26" name="text-392-307">
            <a:extLst xmlns:a="http://schemas.openxmlformats.org/drawingml/2006/main">
              <a:ext uri="{FF2B5EF4-FFF2-40B4-BE49-F238E27FC236}">
                <a16:creationId xmlns:a16="http://schemas.microsoft.com/office/drawing/2014/main" id="{1C7D6837-E650-4548-B0A9-E8B546F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5</a:t>
            </a:r>
          </a:p>
        </p:txBody>
      </p:sp>
      <p:sp>
        <p:nvSpPr>
          <p:cNvPr id="27" name="text-462-307">
            <a:extLst xmlns:a="http://schemas.openxmlformats.org/drawingml/2006/main">
              <a:ext uri="{FF2B5EF4-FFF2-40B4-BE49-F238E27FC236}">
                <a16:creationId xmlns:a16="http://schemas.microsoft.com/office/drawing/2014/main" id="{03B407BF-ECC4-49E5-81E4-D3A66FB9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6</a:t>
            </a:r>
          </a:p>
        </p:txBody>
      </p:sp>
      <p:sp>
        <p:nvSpPr>
          <p:cNvPr id="28" name="text-532-307">
            <a:extLst xmlns:a="http://schemas.openxmlformats.org/drawingml/2006/main">
              <a:ext uri="{FF2B5EF4-FFF2-40B4-BE49-F238E27FC236}">
                <a16:creationId xmlns:a16="http://schemas.microsoft.com/office/drawing/2014/main" id="{0014E154-E953-4B46-8421-87F27A85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7</a:t>
            </a:r>
          </a:p>
        </p:txBody>
      </p:sp>
      <p:sp>
        <p:nvSpPr>
          <p:cNvPr id="29" name="text-602-307">
            <a:extLst xmlns:a="http://schemas.openxmlformats.org/drawingml/2006/main">
              <a:ext uri="{FF2B5EF4-FFF2-40B4-BE49-F238E27FC236}">
                <a16:creationId xmlns:a16="http://schemas.microsoft.com/office/drawing/2014/main" id="{3B1E6947-1B7C-44A2-ADA6-CF3B2F6F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8</a:t>
            </a:r>
          </a:p>
        </p:txBody>
      </p:sp>
      <p:sp>
        <p:nvSpPr>
          <p:cNvPr id="30" name="text-672-307">
            <a:extLst xmlns:a="http://schemas.openxmlformats.org/drawingml/2006/main">
              <a:ext uri="{FF2B5EF4-FFF2-40B4-BE49-F238E27FC236}">
                <a16:creationId xmlns:a16="http://schemas.microsoft.com/office/drawing/2014/main" id="{10BA5E48-7558-431C-B19A-900ACD4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9</a:t>
            </a:r>
          </a:p>
        </p:txBody>
      </p:sp>
      <p:sp>
        <p:nvSpPr>
          <p:cNvPr id="31" name="text-742-307">
            <a:extLst xmlns:a="http://schemas.openxmlformats.org/drawingml/2006/main">
              <a:ext uri="{FF2B5EF4-FFF2-40B4-BE49-F238E27FC236}">
                <a16:creationId xmlns:a16="http://schemas.microsoft.com/office/drawing/2014/main" id="{4E6E8010-76A3-4488-A1DA-EDA14014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10</a:t>
            </a:r>
          </a:p>
        </p:txBody>
      </p:sp>
      <p:sp>
        <p:nvSpPr>
          <p:cNvPr id="32" name="text-812-307">
            <a:extLst xmlns:a="http://schemas.openxmlformats.org/drawingml/2006/main">
              <a:ext uri="{FF2B5EF4-FFF2-40B4-BE49-F238E27FC236}">
                <a16:creationId xmlns:a16="http://schemas.microsoft.com/office/drawing/2014/main" id="{EEFD6893-8F3F-4279-8B25-A69523A0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11</a:t>
            </a:r>
          </a:p>
        </p:txBody>
      </p:sp>
      <p:sp>
        <p:nvSpPr>
          <p:cNvPr id="33" name="text-882-307">
            <a:extLst xmlns:a="http://schemas.openxmlformats.org/drawingml/2006/main">
              <a:ext uri="{FF2B5EF4-FFF2-40B4-BE49-F238E27FC236}">
                <a16:creationId xmlns:a16="http://schemas.microsoft.com/office/drawing/2014/main" id="{8DFACC36-E80B-4C12-9691-203E9236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12</a:t>
            </a:r>
          </a:p>
        </p:txBody>
      </p:sp>
      <p:sp>
        <p:nvSpPr>
          <p:cNvPr id="34" name="text-952-307">
            <a:extLst xmlns:a="http://schemas.openxmlformats.org/drawingml/2006/main">
              <a:ext uri="{FF2B5EF4-FFF2-40B4-BE49-F238E27FC236}">
                <a16:creationId xmlns:a16="http://schemas.microsoft.com/office/drawing/2014/main" id="{D5257D2E-FF08-4FFD-93A0-AE1D9A87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13</a:t>
            </a:r>
          </a:p>
        </p:txBody>
      </p:sp>
      <p:sp>
        <p:nvSpPr>
          <p:cNvPr id="35" name="text-1022-307">
            <a:extLst xmlns:a="http://schemas.openxmlformats.org/drawingml/2006/main">
              <a:ext uri="{FF2B5EF4-FFF2-40B4-BE49-F238E27FC236}">
                <a16:creationId xmlns:a16="http://schemas.microsoft.com/office/drawing/2014/main" id="{C54E4A1A-96A6-4226-981D-0373EE28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14</a:t>
            </a:r>
          </a:p>
        </p:txBody>
      </p:sp>
      <p:sp>
        <p:nvSpPr>
          <p:cNvPr id="36" name="text-1092-307">
            <a:extLst xmlns:a="http://schemas.openxmlformats.org/drawingml/2006/main">
              <a:ext uri="{FF2B5EF4-FFF2-40B4-BE49-F238E27FC236}">
                <a16:creationId xmlns:a16="http://schemas.microsoft.com/office/drawing/2014/main" id="{EF65B500-5ECE-4C06-B1F8-050CF043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24175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15</a:t>
            </a:r>
          </a:p>
        </p:txBody>
      </p:sp>
      <p:sp>
        <p:nvSpPr>
          <p:cNvPr id="37" name="text-42-420">
            <a:extLst xmlns:a="http://schemas.openxmlformats.org/drawingml/2006/main">
              <a:ext uri="{FF2B5EF4-FFF2-40B4-BE49-F238E27FC236}">
                <a16:creationId xmlns:a16="http://schemas.microsoft.com/office/drawing/2014/main" id="{50CEAFAB-AF51-4614-9F5A-B130F1CE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values[0]을 읽을 때 주변 값도 같은 캐시 라인에 들어올 수 있습니다.</a:t>
            </a:r>
          </a:p>
        </p:txBody>
      </p:sp>
      <p:sp>
        <p:nvSpPr>
          <p:cNvPr id="38" name="text-42-520">
            <a:extLst xmlns:a="http://schemas.openxmlformats.org/drawingml/2006/main">
              <a:ext uri="{FF2B5EF4-FFF2-40B4-BE49-F238E27FC236}">
                <a16:creationId xmlns:a16="http://schemas.microsoft.com/office/drawing/2014/main" id="{1D80BDD6-8834-40DF-89E8-7FD07967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연속된 배열을 순서대로 읽으면 가져온 데이터를 낭비하지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2184354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2-34">
            <a:extLst xmlns:a="http://schemas.openxmlformats.org/drawingml/2006/main">
              <a:ext uri="{FF2B5EF4-FFF2-40B4-BE49-F238E27FC236}">
                <a16:creationId xmlns:a16="http://schemas.microsoft.com/office/drawing/2014/main" id="{693DB14A-74EF-4756-B246-A0CFA2EA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퀴즈 1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66C6F04D-DFD4-4B87-9753-3DC6E6F8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잠깐 확인: 가장 가까운 저장 공간은?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12E2A024-A43A-4B96-B613-65B96BE7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15</a:t>
            </a:r>
          </a:p>
        </p:txBody>
      </p:sp>
      <p:sp>
        <p:nvSpPr>
          <p:cNvPr id="4" name="text-80-220">
            <a:extLst xmlns:a="http://schemas.openxmlformats.org/drawingml/2006/main">
              <a:ext uri="{FF2B5EF4-FFF2-40B4-BE49-F238E27FC236}">
                <a16:creationId xmlns:a16="http://schemas.microsoft.com/office/drawing/2014/main" id="{8536E93F-0F15-4065-86D3-E1374092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572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A. RAM</a:t>
            </a:r>
          </a:p>
        </p:txBody>
      </p:sp>
      <p:sp>
        <p:nvSpPr>
          <p:cNvPr id="5" name="text-680-220">
            <a:extLst xmlns:a="http://schemas.openxmlformats.org/drawingml/2006/main">
              <a:ext uri="{FF2B5EF4-FFF2-40B4-BE49-F238E27FC236}">
                <a16:creationId xmlns:a16="http://schemas.microsoft.com/office/drawing/2014/main" id="{8901D592-F7C6-4FB1-AC39-A71BB02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572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B. L3 캐시</a:t>
            </a:r>
          </a:p>
        </p:txBody>
      </p:sp>
      <p:sp>
        <p:nvSpPr>
          <p:cNvPr id="6" name="text-80-390">
            <a:extLst xmlns:a="http://schemas.openxmlformats.org/drawingml/2006/main">
              <a:ext uri="{FF2B5EF4-FFF2-40B4-BE49-F238E27FC236}">
                <a16:creationId xmlns:a16="http://schemas.microsoft.com/office/drawing/2014/main" id="{76F98388-09C0-4CB1-9A07-EC3AE2D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572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C. 레지스터</a:t>
            </a:r>
          </a:p>
        </p:txBody>
      </p:sp>
      <p:sp>
        <p:nvSpPr>
          <p:cNvPr id="7" name="text-680-390">
            <a:extLst xmlns:a="http://schemas.openxmlformats.org/drawingml/2006/main">
              <a:ext uri="{FF2B5EF4-FFF2-40B4-BE49-F238E27FC236}">
                <a16:creationId xmlns:a16="http://schemas.microsoft.com/office/drawing/2014/main" id="{A5B0BE6F-5F1E-4569-B543-01FFDDE3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D. SSD</a:t>
            </a:r>
          </a:p>
        </p:txBody>
      </p:sp>
      <p:sp>
        <p:nvSpPr>
          <p:cNvPr id="8" name="text-80-570">
            <a:extLst xmlns:a="http://schemas.openxmlformats.org/drawingml/2006/main">
              <a:ext uri="{FF2B5EF4-FFF2-40B4-BE49-F238E27FC236}">
                <a16:creationId xmlns:a16="http://schemas.microsoft.com/office/drawing/2014/main" id="{2418090C-F16B-4B98-9F9D-0B88A34D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정답을 고르고, 이유를 한 문장으로 말해 보세요.</a:t>
            </a:r>
          </a:p>
        </p:txBody>
      </p:sp>
    </p:spTree>
    <p:extLst>
      <p:ext uri="{BB962C8B-B14F-4D97-AF65-F5344CB8AC3E}">
        <p14:creationId xmlns:p14="http://schemas.microsoft.com/office/powerpoint/2010/main" val="18528432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-42-34">
            <a:extLst xmlns:a="http://schemas.openxmlformats.org/drawingml/2006/main">
              <a:ext uri="{FF2B5EF4-FFF2-40B4-BE49-F238E27FC236}">
                <a16:creationId xmlns:a16="http://schemas.microsoft.com/office/drawing/2014/main" id="{010350DF-C230-4B2A-9A73-F634710F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파이프라인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097EF9EE-539C-4B8E-AA98-3A53EEFA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파이프라인은 여러 명령어의 단계를 겹칩니다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8D07A4BB-F819-4793-AB1C-4C74880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16</a:t>
            </a:r>
          </a:p>
        </p:txBody>
      </p:sp>
      <p:sp>
        <p:nvSpPr>
          <p:cNvPr id="4" name="text-42-180">
            <a:extLst xmlns:a="http://schemas.openxmlformats.org/drawingml/2006/main">
              <a:ext uri="{FF2B5EF4-FFF2-40B4-BE49-F238E27FC236}">
                <a16:creationId xmlns:a16="http://schemas.microsoft.com/office/drawing/2014/main" id="{698A677A-8D85-4ACC-93EF-3469EE5D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14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Cycle</a:t>
            </a:r>
          </a:p>
        </p:txBody>
      </p:sp>
      <p:sp>
        <p:nvSpPr>
          <p:cNvPr id="5" name="text-220-180">
            <a:extLst xmlns:a="http://schemas.openxmlformats.org/drawingml/2006/main">
              <a:ext uri="{FF2B5EF4-FFF2-40B4-BE49-F238E27FC236}">
                <a16:creationId xmlns:a16="http://schemas.microsoft.com/office/drawing/2014/main" id="{28730D0B-5C89-4D8B-BD2C-C5DCBCB7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145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6" name="text-390-180">
            <a:extLst xmlns:a="http://schemas.openxmlformats.org/drawingml/2006/main">
              <a:ext uri="{FF2B5EF4-FFF2-40B4-BE49-F238E27FC236}">
                <a16:creationId xmlns:a16="http://schemas.microsoft.com/office/drawing/2014/main" id="{9A02EC60-46DE-4133-81DA-74E94BF1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7" name="text-560-180">
            <a:extLst xmlns:a="http://schemas.openxmlformats.org/drawingml/2006/main">
              <a:ext uri="{FF2B5EF4-FFF2-40B4-BE49-F238E27FC236}">
                <a16:creationId xmlns:a16="http://schemas.microsoft.com/office/drawing/2014/main" id="{0CA72932-2E11-4645-B793-2912AED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8" name="text-730-180">
            <a:extLst xmlns:a="http://schemas.openxmlformats.org/drawingml/2006/main">
              <a:ext uri="{FF2B5EF4-FFF2-40B4-BE49-F238E27FC236}">
                <a16:creationId xmlns:a16="http://schemas.microsoft.com/office/drawing/2014/main" id="{FEFF5F2E-4CB2-4AF0-9584-ACD45AAE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145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9" name="text-900-180">
            <a:extLst xmlns:a="http://schemas.openxmlformats.org/drawingml/2006/main">
              <a:ext uri="{FF2B5EF4-FFF2-40B4-BE49-F238E27FC236}">
                <a16:creationId xmlns:a16="http://schemas.microsoft.com/office/drawing/2014/main" id="{A1D863A7-1DA0-49A7-92B8-3AC64C18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5</a:t>
            </a:r>
          </a:p>
        </p:txBody>
      </p:sp>
      <p:sp>
        <p:nvSpPr>
          <p:cNvPr id="10" name="text-42-260">
            <a:extLst xmlns:a="http://schemas.openxmlformats.org/drawingml/2006/main">
              <a:ext uri="{FF2B5EF4-FFF2-40B4-BE49-F238E27FC236}">
                <a16:creationId xmlns:a16="http://schemas.microsoft.com/office/drawing/2014/main" id="{A2B5AC3E-F5C3-4F77-9EA1-7B2D74F6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23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명령 A</a:t>
            </a:r>
          </a:p>
        </p:txBody>
      </p:sp>
      <p:sp>
        <p:nvSpPr>
          <p:cNvPr id="11" name="box-220-250">
            <a:extLst xmlns:a="http://schemas.openxmlformats.org/drawingml/2006/main">
              <a:ext uri="{FF2B5EF4-FFF2-40B4-BE49-F238E27FC236}">
                <a16:creationId xmlns:a16="http://schemas.microsoft.com/office/drawing/2014/main" id="{4F1ADEDD-A2BA-4735-AC6D-389DFF15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text-220-268">
            <a:extLst xmlns:a="http://schemas.openxmlformats.org/drawingml/2006/main">
              <a:ext uri="{FF2B5EF4-FFF2-40B4-BE49-F238E27FC236}">
                <a16:creationId xmlns:a16="http://schemas.microsoft.com/office/drawing/2014/main" id="{20DD1208-67BB-4D83-8165-A65CA38A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Fetch</a:t>
            </a:r>
          </a:p>
        </p:txBody>
      </p:sp>
      <p:sp>
        <p:nvSpPr>
          <p:cNvPr id="13" name="box-390-250">
            <a:extLst xmlns:a="http://schemas.openxmlformats.org/drawingml/2006/main">
              <a:ext uri="{FF2B5EF4-FFF2-40B4-BE49-F238E27FC236}">
                <a16:creationId xmlns:a16="http://schemas.microsoft.com/office/drawing/2014/main" id="{74FE14C8-7F4D-427F-893F-0E0D9AC9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text-390-268">
            <a:extLst xmlns:a="http://schemas.openxmlformats.org/drawingml/2006/main">
              <a:ext uri="{FF2B5EF4-FFF2-40B4-BE49-F238E27FC236}">
                <a16:creationId xmlns:a16="http://schemas.microsoft.com/office/drawing/2014/main" id="{77CD92D7-3D5B-454F-B175-4774AB16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Decode</a:t>
            </a:r>
          </a:p>
        </p:txBody>
      </p:sp>
      <p:sp>
        <p:nvSpPr>
          <p:cNvPr id="15" name="box-560-250">
            <a:extLst xmlns:a="http://schemas.openxmlformats.org/drawingml/2006/main">
              <a:ext uri="{FF2B5EF4-FFF2-40B4-BE49-F238E27FC236}">
                <a16:creationId xmlns:a16="http://schemas.microsoft.com/office/drawing/2014/main" id="{5DB3CA98-07AF-4854-B99F-41BDE18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text-560-268">
            <a:extLst xmlns:a="http://schemas.openxmlformats.org/drawingml/2006/main">
              <a:ext uri="{FF2B5EF4-FFF2-40B4-BE49-F238E27FC236}">
                <a16:creationId xmlns:a16="http://schemas.microsoft.com/office/drawing/2014/main" id="{F56B4081-6E79-4C7D-BA96-5183331C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527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Execute</a:t>
            </a:r>
          </a:p>
        </p:txBody>
      </p:sp>
      <p:sp>
        <p:nvSpPr>
          <p:cNvPr id="17" name="box-730-250">
            <a:extLst xmlns:a="http://schemas.openxmlformats.org/drawingml/2006/main">
              <a:ext uri="{FF2B5EF4-FFF2-40B4-BE49-F238E27FC236}">
                <a16:creationId xmlns:a16="http://schemas.microsoft.com/office/drawing/2014/main" id="{E99B09D8-139A-4F0E-AB22-DC3949A8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A5F3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text-730-268">
            <a:extLst xmlns:a="http://schemas.openxmlformats.org/drawingml/2006/main">
              <a:ext uri="{FF2B5EF4-FFF2-40B4-BE49-F238E27FC236}">
                <a16:creationId xmlns:a16="http://schemas.microsoft.com/office/drawing/2014/main" id="{7CF21EDD-1419-4E3E-8623-9A8EA911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Memory</a:t>
            </a:r>
          </a:p>
        </p:txBody>
      </p:sp>
      <p:sp>
        <p:nvSpPr>
          <p:cNvPr id="19" name="box-900-250">
            <a:extLst xmlns:a="http://schemas.openxmlformats.org/drawingml/2006/main">
              <a:ext uri="{FF2B5EF4-FFF2-40B4-BE49-F238E27FC236}">
                <a16:creationId xmlns:a16="http://schemas.microsoft.com/office/drawing/2014/main" id="{971E4EA7-ACFA-451D-A969-41A43753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text-900-268">
            <a:extLst xmlns:a="http://schemas.openxmlformats.org/drawingml/2006/main">
              <a:ext uri="{FF2B5EF4-FFF2-40B4-BE49-F238E27FC236}">
                <a16:creationId xmlns:a16="http://schemas.microsoft.com/office/drawing/2014/main" id="{0103D631-E3EE-4E86-9716-942E4C60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Write</a:t>
            </a:r>
          </a:p>
        </p:txBody>
      </p:sp>
      <p:sp>
        <p:nvSpPr>
          <p:cNvPr id="21" name="text-42-350">
            <a:extLst xmlns:a="http://schemas.openxmlformats.org/drawingml/2006/main">
              <a:ext uri="{FF2B5EF4-FFF2-40B4-BE49-F238E27FC236}">
                <a16:creationId xmlns:a16="http://schemas.microsoft.com/office/drawing/2014/main" id="{C5C6ABD2-8192-4D5A-A760-8405CE36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23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명령 B</a:t>
            </a:r>
          </a:p>
        </p:txBody>
      </p:sp>
      <p:sp>
        <p:nvSpPr>
          <p:cNvPr id="22" name="box-390-340">
            <a:extLst xmlns:a="http://schemas.openxmlformats.org/drawingml/2006/main">
              <a:ext uri="{FF2B5EF4-FFF2-40B4-BE49-F238E27FC236}">
                <a16:creationId xmlns:a16="http://schemas.microsoft.com/office/drawing/2014/main" id="{E2BA5DF0-5299-446A-A2F1-3AF70D73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text-390-358">
            <a:extLst xmlns:a="http://schemas.openxmlformats.org/drawingml/2006/main">
              <a:ext uri="{FF2B5EF4-FFF2-40B4-BE49-F238E27FC236}">
                <a16:creationId xmlns:a16="http://schemas.microsoft.com/office/drawing/2014/main" id="{51EBE9FD-983A-4BB5-AC60-BDDF8125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Fetch</a:t>
            </a:r>
          </a:p>
        </p:txBody>
      </p:sp>
      <p:sp>
        <p:nvSpPr>
          <p:cNvPr id="24" name="box-560-340">
            <a:extLst xmlns:a="http://schemas.openxmlformats.org/drawingml/2006/main">
              <a:ext uri="{FF2B5EF4-FFF2-40B4-BE49-F238E27FC236}">
                <a16:creationId xmlns:a16="http://schemas.microsoft.com/office/drawing/2014/main" id="{FDCACCC2-6409-4B08-8325-34F34D87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text-560-358">
            <a:extLst xmlns:a="http://schemas.openxmlformats.org/drawingml/2006/main">
              <a:ext uri="{FF2B5EF4-FFF2-40B4-BE49-F238E27FC236}">
                <a16:creationId xmlns:a16="http://schemas.microsoft.com/office/drawing/2014/main" id="{A4D93C0F-F4D1-4B0E-82C0-C955961E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Decode</a:t>
            </a:r>
          </a:p>
        </p:txBody>
      </p:sp>
      <p:sp>
        <p:nvSpPr>
          <p:cNvPr id="26" name="box-730-340">
            <a:extLst xmlns:a="http://schemas.openxmlformats.org/drawingml/2006/main">
              <a:ext uri="{FF2B5EF4-FFF2-40B4-BE49-F238E27FC236}">
                <a16:creationId xmlns:a16="http://schemas.microsoft.com/office/drawing/2014/main" id="{03765658-7343-4921-9F23-476FD078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text-730-358">
            <a:extLst xmlns:a="http://schemas.openxmlformats.org/drawingml/2006/main">
              <a:ext uri="{FF2B5EF4-FFF2-40B4-BE49-F238E27FC236}">
                <a16:creationId xmlns:a16="http://schemas.microsoft.com/office/drawing/2014/main" id="{C814A547-7D64-4A55-9831-0ED3A29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Execute</a:t>
            </a:r>
          </a:p>
        </p:txBody>
      </p:sp>
      <p:sp>
        <p:nvSpPr>
          <p:cNvPr id="28" name="box-900-340">
            <a:extLst xmlns:a="http://schemas.openxmlformats.org/drawingml/2006/main">
              <a:ext uri="{FF2B5EF4-FFF2-40B4-BE49-F238E27FC236}">
                <a16:creationId xmlns:a16="http://schemas.microsoft.com/office/drawing/2014/main" id="{507486DD-5795-43F1-AE01-48016643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A5F3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text-900-358">
            <a:extLst xmlns:a="http://schemas.openxmlformats.org/drawingml/2006/main">
              <a:ext uri="{FF2B5EF4-FFF2-40B4-BE49-F238E27FC236}">
                <a16:creationId xmlns:a16="http://schemas.microsoft.com/office/drawing/2014/main" id="{7A54D4CF-A3D2-4E41-9C4D-4BE2BEDF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Memory</a:t>
            </a:r>
          </a:p>
        </p:txBody>
      </p:sp>
      <p:sp>
        <p:nvSpPr>
          <p:cNvPr id="30" name="box-1070-340">
            <a:extLst xmlns:a="http://schemas.openxmlformats.org/drawingml/2006/main">
              <a:ext uri="{FF2B5EF4-FFF2-40B4-BE49-F238E27FC236}">
                <a16:creationId xmlns:a16="http://schemas.microsoft.com/office/drawing/2014/main" id="{CF61D234-2C77-43A5-8EC6-3CF624D0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text-1070-358">
            <a:extLst xmlns:a="http://schemas.openxmlformats.org/drawingml/2006/main">
              <a:ext uri="{FF2B5EF4-FFF2-40B4-BE49-F238E27FC236}">
                <a16:creationId xmlns:a16="http://schemas.microsoft.com/office/drawing/2014/main" id="{B04F5935-735D-43AC-A7EC-170C6083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099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Write</a:t>
            </a:r>
          </a:p>
        </p:txBody>
      </p:sp>
      <p:sp>
        <p:nvSpPr>
          <p:cNvPr id="32" name="text-42-440">
            <a:extLst xmlns:a="http://schemas.openxmlformats.org/drawingml/2006/main">
              <a:ext uri="{FF2B5EF4-FFF2-40B4-BE49-F238E27FC236}">
                <a16:creationId xmlns:a16="http://schemas.microsoft.com/office/drawing/2014/main" id="{01E6F017-AD6F-4D89-87E8-EB8EA3B6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23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명령 C</a:t>
            </a:r>
          </a:p>
        </p:txBody>
      </p:sp>
      <p:sp>
        <p:nvSpPr>
          <p:cNvPr id="33" name="box-560-430">
            <a:extLst xmlns:a="http://schemas.openxmlformats.org/drawingml/2006/main">
              <a:ext uri="{FF2B5EF4-FFF2-40B4-BE49-F238E27FC236}">
                <a16:creationId xmlns:a16="http://schemas.microsoft.com/office/drawing/2014/main" id="{FBED4D5C-9509-4292-A9B4-98B4D5DA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text-560-448">
            <a:extLst xmlns:a="http://schemas.openxmlformats.org/drawingml/2006/main">
              <a:ext uri="{FF2B5EF4-FFF2-40B4-BE49-F238E27FC236}">
                <a16:creationId xmlns:a16="http://schemas.microsoft.com/office/drawing/2014/main" id="{0CAA04CE-7EE2-4306-9CEC-518551C9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Fetch</a:t>
            </a:r>
          </a:p>
        </p:txBody>
      </p:sp>
      <p:sp>
        <p:nvSpPr>
          <p:cNvPr id="35" name="box-730-430">
            <a:extLst xmlns:a="http://schemas.openxmlformats.org/drawingml/2006/main">
              <a:ext uri="{FF2B5EF4-FFF2-40B4-BE49-F238E27FC236}">
                <a16:creationId xmlns:a16="http://schemas.microsoft.com/office/drawing/2014/main" id="{13175E91-E2D2-407B-BB6C-0B61B26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text-730-448">
            <a:extLst xmlns:a="http://schemas.openxmlformats.org/drawingml/2006/main">
              <a:ext uri="{FF2B5EF4-FFF2-40B4-BE49-F238E27FC236}">
                <a16:creationId xmlns:a16="http://schemas.microsoft.com/office/drawing/2014/main" id="{7B268481-F55A-49DE-B1F8-0D2DED34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Decode</a:t>
            </a:r>
          </a:p>
        </p:txBody>
      </p:sp>
      <p:sp>
        <p:nvSpPr>
          <p:cNvPr id="37" name="box-900-430">
            <a:extLst xmlns:a="http://schemas.openxmlformats.org/drawingml/2006/main">
              <a:ext uri="{FF2B5EF4-FFF2-40B4-BE49-F238E27FC236}">
                <a16:creationId xmlns:a16="http://schemas.microsoft.com/office/drawing/2014/main" id="{FF3AB5BE-2AE8-4D0B-BEEA-629138E3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text-900-448">
            <a:extLst xmlns:a="http://schemas.openxmlformats.org/drawingml/2006/main">
              <a:ext uri="{FF2B5EF4-FFF2-40B4-BE49-F238E27FC236}">
                <a16:creationId xmlns:a16="http://schemas.microsoft.com/office/drawing/2014/main" id="{932BF5F4-B8CF-47A2-9AF6-2207C974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Execute</a:t>
            </a:r>
          </a:p>
        </p:txBody>
      </p:sp>
      <p:sp>
        <p:nvSpPr>
          <p:cNvPr id="39" name="box-1070-430">
            <a:extLst xmlns:a="http://schemas.openxmlformats.org/drawingml/2006/main">
              <a:ext uri="{FF2B5EF4-FFF2-40B4-BE49-F238E27FC236}">
                <a16:creationId xmlns:a16="http://schemas.microsoft.com/office/drawing/2014/main" id="{F3802FAD-3F2E-4B82-ACA8-87A49C89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A5F3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text-1070-448">
            <a:extLst xmlns:a="http://schemas.openxmlformats.org/drawingml/2006/main">
              <a:ext uri="{FF2B5EF4-FFF2-40B4-BE49-F238E27FC236}">
                <a16:creationId xmlns:a16="http://schemas.microsoft.com/office/drawing/2014/main" id="{E46B54DF-1B65-4C6F-B38E-057C3637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672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Memory</a:t>
            </a:r>
          </a:p>
        </p:txBody>
      </p:sp>
      <p:sp>
        <p:nvSpPr>
          <p:cNvPr id="41" name="text-42-565">
            <a:extLst xmlns:a="http://schemas.openxmlformats.org/drawingml/2006/main">
              <a:ext uri="{FF2B5EF4-FFF2-40B4-BE49-F238E27FC236}">
                <a16:creationId xmlns:a16="http://schemas.microsoft.com/office/drawing/2014/main" id="{16FE0670-E484-4500-8638-C23B57A9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한 명령어가 더 빨라진다기보다, 전체 처리량이 높아집니다.</a:t>
            </a:r>
          </a:p>
        </p:txBody>
      </p:sp>
    </p:spTree>
    <p:extLst>
      <p:ext uri="{BB962C8B-B14F-4D97-AF65-F5344CB8AC3E}">
        <p14:creationId xmlns:p14="http://schemas.microsoft.com/office/powerpoint/2010/main" val="12880718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2-34">
            <a:extLst xmlns:a="http://schemas.openxmlformats.org/drawingml/2006/main">
              <a:ext uri="{FF2B5EF4-FFF2-40B4-BE49-F238E27FC236}">
                <a16:creationId xmlns:a16="http://schemas.microsoft.com/office/drawing/2014/main" id="{43B834E4-8AF7-45F0-8F63-B2135B46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분기 예측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7A4575D3-944E-4387-99F9-B95EEE11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분기문을 만나면 다음 길을 미리 예상합니다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D95C9B64-EBC3-41DB-AAD5-04EE868C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17</a:t>
            </a:r>
          </a:p>
        </p:txBody>
      </p:sp>
      <p:cxnSp>
        <p:nvCxnSpPr>
          <p:cNvPr id="17" name="line-270-350"/>
          <p:cNvCxnSpPr/>
          <p:nvPr/>
        </p:nvCxnSpPr>
        <p:spPr>
          <a:xfrm xmlns:a="http://schemas.openxmlformats.org/drawingml/2006/main">
            <a:off x="2571750" y="2095500"/>
            <a:ext cx="30480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18" name="line-270-350"/>
          <p:cNvCxnSpPr/>
          <p:nvPr/>
        </p:nvCxnSpPr>
        <p:spPr>
          <a:xfrm xmlns:a="http://schemas.openxmlformats.org/drawingml/2006/main">
            <a:off x="2571750" y="3333750"/>
            <a:ext cx="30480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6" name="box-70-290">
            <a:extLst xmlns:a="http://schemas.openxmlformats.org/drawingml/2006/main">
              <a:ext uri="{FF2B5EF4-FFF2-40B4-BE49-F238E27FC236}">
                <a16:creationId xmlns:a16="http://schemas.microsoft.com/office/drawing/2014/main" id="{249C9609-FF82-4954-AA12-7B561446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text-70-330">
            <a:extLst xmlns:a="http://schemas.openxmlformats.org/drawingml/2006/main">
              <a:ext uri="{FF2B5EF4-FFF2-40B4-BE49-F238E27FC236}">
                <a16:creationId xmlns:a16="http://schemas.microsoft.com/office/drawing/2014/main" id="{A073F2CA-8FA7-4A21-8478-BD0920B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if (조건)</a:t>
            </a:r>
          </a:p>
        </p:txBody>
      </p:sp>
      <p:sp>
        <p:nvSpPr>
          <p:cNvPr id="8" name="box-650-150">
            <a:extLst xmlns:a="http://schemas.openxmlformats.org/drawingml/2006/main">
              <a:ext uri="{FF2B5EF4-FFF2-40B4-BE49-F238E27FC236}">
                <a16:creationId xmlns:a16="http://schemas.microsoft.com/office/drawing/2014/main" id="{7F802267-4251-4D34-B29B-2C3D9D44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476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text-674-174">
            <a:extLst xmlns:a="http://schemas.openxmlformats.org/drawingml/2006/main">
              <a:ext uri="{FF2B5EF4-FFF2-40B4-BE49-F238E27FC236}">
                <a16:creationId xmlns:a16="http://schemas.microsoft.com/office/drawing/2014/main" id="{F5301782-8BA0-471A-99FE-34575AD1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57350"/>
            <a:ext cx="4019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예측 성공</a:t>
            </a:r>
          </a:p>
        </p:txBody>
      </p:sp>
      <p:sp>
        <p:nvSpPr>
          <p:cNvPr id="10" name="text-674-232">
            <a:extLst xmlns:a="http://schemas.openxmlformats.org/drawingml/2006/main">
              <a:ext uri="{FF2B5EF4-FFF2-40B4-BE49-F238E27FC236}">
                <a16:creationId xmlns:a16="http://schemas.microsoft.com/office/drawing/2014/main" id="{19724F52-D064-449D-96AF-F7E26AB4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0195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준비한 명령어를 그대로 실행합니다.</a:t>
            </a:r>
          </a:p>
        </p:txBody>
      </p:sp>
      <p:sp>
        <p:nvSpPr>
          <p:cNvPr id="11" name="box-650-410">
            <a:extLst xmlns:a="http://schemas.openxmlformats.org/drawingml/2006/main">
              <a:ext uri="{FF2B5EF4-FFF2-40B4-BE49-F238E27FC236}">
                <a16:creationId xmlns:a16="http://schemas.microsoft.com/office/drawing/2014/main" id="{61AA3511-4542-434D-94C3-93F330D7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476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ECAC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text-674-434">
            <a:extLst xmlns:a="http://schemas.openxmlformats.org/drawingml/2006/main">
              <a:ext uri="{FF2B5EF4-FFF2-40B4-BE49-F238E27FC236}">
                <a16:creationId xmlns:a16="http://schemas.microsoft.com/office/drawing/2014/main" id="{C40DE491-3828-4296-9225-E15EEB7B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33850"/>
            <a:ext cx="4019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예측 실패</a:t>
            </a:r>
          </a:p>
        </p:txBody>
      </p:sp>
      <p:sp>
        <p:nvSpPr>
          <p:cNvPr id="13" name="text-674-492">
            <a:extLst xmlns:a="http://schemas.openxmlformats.org/drawingml/2006/main">
              <a:ext uri="{FF2B5EF4-FFF2-40B4-BE49-F238E27FC236}">
                <a16:creationId xmlns:a16="http://schemas.microsoft.com/office/drawing/2014/main" id="{479B16C4-8E76-47B6-BD3E-4662649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40195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잘못 준비한 작업을 버리고 다시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3011409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2-34">
            <a:extLst xmlns:a="http://schemas.openxmlformats.org/drawingml/2006/main">
              <a:ext uri="{FF2B5EF4-FFF2-40B4-BE49-F238E27FC236}">
                <a16:creationId xmlns:a16="http://schemas.microsoft.com/office/drawing/2014/main" id="{14CE99F4-5050-41CE-BAC2-3EFBDDAC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비순차 실행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7CB4C040-8D35-4337-AF75-4A026595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기다리는 명령어를 앞질러 실행할 수 있습니다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4C2854CC-90E6-45E5-9B42-22D2DF3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18</a:t>
            </a:r>
          </a:p>
        </p:txBody>
      </p:sp>
      <p:sp>
        <p:nvSpPr>
          <p:cNvPr id="4" name="box-42-190">
            <a:extLst xmlns:a="http://schemas.openxmlformats.org/drawingml/2006/main">
              <a:ext uri="{FF2B5EF4-FFF2-40B4-BE49-F238E27FC236}">
                <a16:creationId xmlns:a16="http://schemas.microsoft.com/office/drawing/2014/main" id="{08DF5BD3-7C0D-4A9E-B9DE-0F1872EF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ECAC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14">
            <a:extLst xmlns:a="http://schemas.openxmlformats.org/drawingml/2006/main">
              <a:ext uri="{FF2B5EF4-FFF2-40B4-BE49-F238E27FC236}">
                <a16:creationId xmlns:a16="http://schemas.microsoft.com/office/drawing/2014/main" id="{C925E668-7C6F-49A8-87FB-A8E67137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text-66-272">
            <a:extLst xmlns:a="http://schemas.openxmlformats.org/drawingml/2006/main">
              <a:ext uri="{FF2B5EF4-FFF2-40B4-BE49-F238E27FC236}">
                <a16:creationId xmlns:a16="http://schemas.microsoft.com/office/drawing/2014/main" id="{F148AC6E-EFC0-4455-9445-506716B5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876550" cy="1857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메모리에서 값을 읽는 중…
오래 기다립니다.</a:t>
            </a:r>
          </a:p>
        </p:txBody>
      </p:sp>
      <p:sp>
        <p:nvSpPr>
          <p:cNvPr id="7" name="box-465-190">
            <a:extLst xmlns:a="http://schemas.openxmlformats.org/drawingml/2006/main">
              <a:ext uri="{FF2B5EF4-FFF2-40B4-BE49-F238E27FC236}">
                <a16:creationId xmlns:a16="http://schemas.microsoft.com/office/drawing/2014/main" id="{AF1F4C1C-DE6E-44D8-A33F-20B85E3B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489-214">
            <a:extLst xmlns:a="http://schemas.openxmlformats.org/drawingml/2006/main">
              <a:ext uri="{FF2B5EF4-FFF2-40B4-BE49-F238E27FC236}">
                <a16:creationId xmlns:a16="http://schemas.microsoft.com/office/drawing/2014/main" id="{E56DBC17-0678-4309-805A-272C8F6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9" name="text-489-272">
            <a:extLst xmlns:a="http://schemas.openxmlformats.org/drawingml/2006/main">
              <a:ext uri="{FF2B5EF4-FFF2-40B4-BE49-F238E27FC236}">
                <a16:creationId xmlns:a16="http://schemas.microsoft.com/office/drawing/2014/main" id="{DFDFC6AA-900C-4F8D-B6CE-A17AD1CD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90800"/>
            <a:ext cx="2876550" cy="1857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x + y
A와 관계없습니다.</a:t>
            </a:r>
          </a:p>
        </p:txBody>
      </p:sp>
      <p:sp>
        <p:nvSpPr>
          <p:cNvPr id="10" name="box-888-190">
            <a:extLst xmlns:a="http://schemas.openxmlformats.org/drawingml/2006/main">
              <a:ext uri="{FF2B5EF4-FFF2-40B4-BE49-F238E27FC236}">
                <a16:creationId xmlns:a16="http://schemas.microsoft.com/office/drawing/2014/main" id="{8181CA79-AF37-4564-B036-BB19A281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912-214">
            <a:extLst xmlns:a="http://schemas.openxmlformats.org/drawingml/2006/main">
              <a:ext uri="{FF2B5EF4-FFF2-40B4-BE49-F238E27FC236}">
                <a16:creationId xmlns:a16="http://schemas.microsoft.com/office/drawing/2014/main" id="{F1B71A46-E88A-4826-A9C8-8B0FFE14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2" name="text-912-272">
            <a:extLst xmlns:a="http://schemas.openxmlformats.org/drawingml/2006/main">
              <a:ext uri="{FF2B5EF4-FFF2-40B4-BE49-F238E27FC236}">
                <a16:creationId xmlns:a16="http://schemas.microsoft.com/office/drawing/2014/main" id="{8FF65BE3-922B-46C8-B93C-A054DF4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90800"/>
            <a:ext cx="2495550" cy="1857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p × q
A와 관계없습니다.</a:t>
            </a:r>
          </a:p>
        </p:txBody>
      </p:sp>
      <p:sp>
        <p:nvSpPr>
          <p:cNvPr id="13" name="text-42-555">
            <a:extLst xmlns:a="http://schemas.openxmlformats.org/drawingml/2006/main">
              <a:ext uri="{FF2B5EF4-FFF2-40B4-BE49-F238E27FC236}">
                <a16:creationId xmlns:a16="http://schemas.microsoft.com/office/drawing/2014/main" id="{CD2020E2-D061-4B13-8EDB-E04D0CF9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66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CPU는 B와 C를 먼저 실행해 빈 시간을 줄일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493923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34">
            <a:extLst xmlns:a="http://schemas.openxmlformats.org/drawingml/2006/main">
              <a:ext uri="{FF2B5EF4-FFF2-40B4-BE49-F238E27FC236}">
                <a16:creationId xmlns:a16="http://schemas.microsoft.com/office/drawing/2014/main" id="{8326807C-D9BE-40A7-986A-AE8CD043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한 사이클의 병렬 처리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670DFFF2-9EFD-436C-987E-FAEE77D3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슈퍼스칼라는 여러 실행 유닛을 동시에 씁니다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4ED7C952-98AE-427C-99F4-DDBF5BAC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19</a:t>
            </a:r>
          </a:p>
        </p:txBody>
      </p:sp>
      <p:sp>
        <p:nvSpPr>
          <p:cNvPr id="4" name="text-42-200">
            <a:extLst xmlns:a="http://schemas.openxmlformats.org/drawingml/2006/main">
              <a:ext uri="{FF2B5EF4-FFF2-40B4-BE49-F238E27FC236}">
                <a16:creationId xmlns:a16="http://schemas.microsoft.com/office/drawing/2014/main" id="{0C889D3D-E414-42ED-B980-75016EFE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명령어 대기열</a:t>
            </a:r>
          </a:p>
        </p:txBody>
      </p:sp>
      <p:cxnSp>
        <p:nvCxnSpPr>
          <p:cNvPr id="22" name="line-300-330"/>
          <p:cNvCxnSpPr/>
          <p:nvPr/>
        </p:nvCxnSpPr>
        <p:spPr>
          <a:xfrm xmlns:a="http://schemas.openxmlformats.org/drawingml/2006/main">
            <a:off x="2857500" y="2190750"/>
            <a:ext cx="2095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23" name="line-300-330"/>
          <p:cNvCxnSpPr/>
          <p:nvPr/>
        </p:nvCxnSpPr>
        <p:spPr>
          <a:xfrm xmlns:a="http://schemas.openxmlformats.org/drawingml/2006/main">
            <a:off x="2857500" y="3143250"/>
            <a:ext cx="20955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24" name="line-300-330"/>
          <p:cNvCxnSpPr/>
          <p:nvPr/>
        </p:nvCxnSpPr>
        <p:spPr>
          <a:xfrm xmlns:a="http://schemas.openxmlformats.org/drawingml/2006/main">
            <a:off x="2857500" y="3143250"/>
            <a:ext cx="2095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8" name="box-580-150">
            <a:extLst xmlns:a="http://schemas.openxmlformats.org/drawingml/2006/main">
              <a:ext uri="{FF2B5EF4-FFF2-40B4-BE49-F238E27FC236}">
                <a16:creationId xmlns:a16="http://schemas.microsoft.com/office/drawing/2014/main" id="{E4F0BFA8-A1E1-418A-9B2C-FCA420AF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text-604-174">
            <a:extLst xmlns:a="http://schemas.openxmlformats.org/drawingml/2006/main">
              <a:ext uri="{FF2B5EF4-FFF2-40B4-BE49-F238E27FC236}">
                <a16:creationId xmlns:a16="http://schemas.microsoft.com/office/drawing/2014/main" id="{77484891-D234-4B5E-AED8-51382215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573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ALU 0</a:t>
            </a:r>
          </a:p>
        </p:txBody>
      </p:sp>
      <p:sp>
        <p:nvSpPr>
          <p:cNvPr id="10" name="text-604-232">
            <a:extLst xmlns:a="http://schemas.openxmlformats.org/drawingml/2006/main">
              <a:ext uri="{FF2B5EF4-FFF2-40B4-BE49-F238E27FC236}">
                <a16:creationId xmlns:a16="http://schemas.microsoft.com/office/drawing/2014/main" id="{678DAF4E-A8BA-4353-9EA1-2CA3FF8A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09800"/>
            <a:ext cx="4305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정수 덧셈</a:t>
            </a:r>
          </a:p>
        </p:txBody>
      </p:sp>
      <p:sp>
        <p:nvSpPr>
          <p:cNvPr id="11" name="box-580-300">
            <a:extLst xmlns:a="http://schemas.openxmlformats.org/drawingml/2006/main">
              <a:ext uri="{FF2B5EF4-FFF2-40B4-BE49-F238E27FC236}">
                <a16:creationId xmlns:a16="http://schemas.microsoft.com/office/drawing/2014/main" id="{1A46DF05-B61C-4C2B-B289-110F802B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text-604-324">
            <a:extLst xmlns:a="http://schemas.openxmlformats.org/drawingml/2006/main">
              <a:ext uri="{FF2B5EF4-FFF2-40B4-BE49-F238E27FC236}">
                <a16:creationId xmlns:a16="http://schemas.microsoft.com/office/drawing/2014/main" id="{7BD3FFA4-D0B0-4C62-921D-9AE604C0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8610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FPU / SIMD</a:t>
            </a:r>
          </a:p>
        </p:txBody>
      </p:sp>
      <p:sp>
        <p:nvSpPr>
          <p:cNvPr id="13" name="text-604-382">
            <a:extLst xmlns:a="http://schemas.openxmlformats.org/drawingml/2006/main">
              <a:ext uri="{FF2B5EF4-FFF2-40B4-BE49-F238E27FC236}">
                <a16:creationId xmlns:a16="http://schemas.microsoft.com/office/drawing/2014/main" id="{CD552EF8-09FB-4FD4-B623-19334EC8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4305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부동소수점·벡터 계산</a:t>
            </a:r>
          </a:p>
        </p:txBody>
      </p:sp>
      <p:sp>
        <p:nvSpPr>
          <p:cNvPr id="14" name="box-580-450">
            <a:extLst xmlns:a="http://schemas.openxmlformats.org/drawingml/2006/main">
              <a:ext uri="{FF2B5EF4-FFF2-40B4-BE49-F238E27FC236}">
                <a16:creationId xmlns:a16="http://schemas.microsoft.com/office/drawing/2014/main" id="{FAE7FBC5-1E21-4AF6-9071-74761037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8625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text-604-474">
            <a:extLst xmlns:a="http://schemas.openxmlformats.org/drawingml/2006/main">
              <a:ext uri="{FF2B5EF4-FFF2-40B4-BE49-F238E27FC236}">
                <a16:creationId xmlns:a16="http://schemas.microsoft.com/office/drawing/2014/main" id="{8C9DC2BA-4C93-4468-96D0-9F3F757B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148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Load / Store</a:t>
            </a:r>
          </a:p>
        </p:txBody>
      </p:sp>
      <p:sp>
        <p:nvSpPr>
          <p:cNvPr id="16" name="text-604-532">
            <a:extLst xmlns:a="http://schemas.openxmlformats.org/drawingml/2006/main">
              <a:ext uri="{FF2B5EF4-FFF2-40B4-BE49-F238E27FC236}">
                <a16:creationId xmlns:a16="http://schemas.microsoft.com/office/drawing/2014/main" id="{E053720E-D021-457B-9B9E-4F012CAA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67300"/>
            <a:ext cx="4305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메모리 읽기·쓰기</a:t>
            </a:r>
          </a:p>
        </p:txBody>
      </p:sp>
      <p:sp>
        <p:nvSpPr>
          <p:cNvPr id="17" name="text-42-570">
            <a:extLst xmlns:a="http://schemas.openxmlformats.org/drawingml/2006/main">
              <a:ext uri="{FF2B5EF4-FFF2-40B4-BE49-F238E27FC236}">
                <a16:creationId xmlns:a16="http://schemas.microsoft.com/office/drawing/2014/main" id="{18C1B370-7611-49ED-BD4D-4BFE1AA6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5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독립적인 작업이 있어야 동시에 보낼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52505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2-34">
            <a:extLst xmlns:a="http://schemas.openxmlformats.org/drawingml/2006/main">
              <a:ext uri="{FF2B5EF4-FFF2-40B4-BE49-F238E27FC236}">
                <a16:creationId xmlns:a16="http://schemas.microsoft.com/office/drawing/2014/main" id="{B99E057C-95AE-4184-B466-BD6D108A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성능을 보는 법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03DECF8D-D23A-4847-B1C7-C7EBB801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클럭이 높다고 항상 더 빠른 것은 아닙니다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7EFC152A-22FE-46E6-8759-055EF684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20</a:t>
            </a:r>
          </a:p>
        </p:txBody>
      </p:sp>
      <p:sp>
        <p:nvSpPr>
          <p:cNvPr id="4" name="box-42-180">
            <a:extLst xmlns:a="http://schemas.openxmlformats.org/drawingml/2006/main">
              <a:ext uri="{FF2B5EF4-FFF2-40B4-BE49-F238E27FC236}">
                <a16:creationId xmlns:a16="http://schemas.microsoft.com/office/drawing/2014/main" id="{99B297B4-97C9-4B78-B301-8C8D813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04">
            <a:extLst xmlns:a="http://schemas.openxmlformats.org/drawingml/2006/main">
              <a:ext uri="{FF2B5EF4-FFF2-40B4-BE49-F238E27FC236}">
                <a16:creationId xmlns:a16="http://schemas.microsoft.com/office/drawing/2014/main" id="{9E8A8C6E-D034-4F7E-8F36-C0FA33E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Clock</a:t>
            </a:r>
          </a:p>
        </p:txBody>
      </p:sp>
      <p:sp>
        <p:nvSpPr>
          <p:cNvPr id="6" name="text-66-262">
            <a:extLst xmlns:a="http://schemas.openxmlformats.org/drawingml/2006/main">
              <a:ext uri="{FF2B5EF4-FFF2-40B4-BE49-F238E27FC236}">
                <a16:creationId xmlns:a16="http://schemas.microsoft.com/office/drawing/2014/main" id="{3B2640F6-0863-42A6-A959-493FC2D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8765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초당 박자 수
3.5 GHz = 초당 35억 번의 박자</a:t>
            </a:r>
          </a:p>
        </p:txBody>
      </p:sp>
      <p:sp>
        <p:nvSpPr>
          <p:cNvPr id="7" name="box-465-180">
            <a:extLst xmlns:a="http://schemas.openxmlformats.org/drawingml/2006/main">
              <a:ext uri="{FF2B5EF4-FFF2-40B4-BE49-F238E27FC236}">
                <a16:creationId xmlns:a16="http://schemas.microsoft.com/office/drawing/2014/main" id="{621CD8AF-E753-4FC3-8331-68A17FE3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489-204">
            <a:extLst xmlns:a="http://schemas.openxmlformats.org/drawingml/2006/main">
              <a:ext uri="{FF2B5EF4-FFF2-40B4-BE49-F238E27FC236}">
                <a16:creationId xmlns:a16="http://schemas.microsoft.com/office/drawing/2014/main" id="{839E02E5-CC04-4CCB-9B95-BD7B9000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4310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IPC</a:t>
            </a:r>
          </a:p>
        </p:txBody>
      </p:sp>
      <p:sp>
        <p:nvSpPr>
          <p:cNvPr id="9" name="text-489-262">
            <a:extLst xmlns:a="http://schemas.openxmlformats.org/drawingml/2006/main">
              <a:ext uri="{FF2B5EF4-FFF2-40B4-BE49-F238E27FC236}">
                <a16:creationId xmlns:a16="http://schemas.microsoft.com/office/drawing/2014/main" id="{7ABA9DD4-679E-4202-8428-1422025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765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한 사이클에 완료한
명령어 수</a:t>
            </a:r>
          </a:p>
        </p:txBody>
      </p:sp>
      <p:sp>
        <p:nvSpPr>
          <p:cNvPr id="10" name="box-888-180">
            <a:extLst xmlns:a="http://schemas.openxmlformats.org/drawingml/2006/main">
              <a:ext uri="{FF2B5EF4-FFF2-40B4-BE49-F238E27FC236}">
                <a16:creationId xmlns:a16="http://schemas.microsoft.com/office/drawing/2014/main" id="{20BE0718-0884-43EE-9B85-3AEC47F0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0"/>
            <a:ext cx="2952750" cy="31432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912-204">
            <a:extLst xmlns:a="http://schemas.openxmlformats.org/drawingml/2006/main">
              <a:ext uri="{FF2B5EF4-FFF2-40B4-BE49-F238E27FC236}">
                <a16:creationId xmlns:a16="http://schemas.microsoft.com/office/drawing/2014/main" id="{190D844F-B985-4802-932B-35A781A9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실제 조건</a:t>
            </a:r>
          </a:p>
        </p:txBody>
      </p:sp>
      <p:sp>
        <p:nvSpPr>
          <p:cNvPr id="12" name="text-912-262">
            <a:extLst xmlns:a="http://schemas.openxmlformats.org/drawingml/2006/main">
              <a:ext uri="{FF2B5EF4-FFF2-40B4-BE49-F238E27FC236}">
                <a16:creationId xmlns:a16="http://schemas.microsoft.com/office/drawing/2014/main" id="{325F42AA-693D-43A2-BB69-ED66204A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49555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캐시 미스
분기 실패
전력·온도</a:t>
            </a:r>
          </a:p>
        </p:txBody>
      </p:sp>
      <p:sp>
        <p:nvSpPr>
          <p:cNvPr id="13" name="text-42-570">
            <a:extLst xmlns:a="http://schemas.openxmlformats.org/drawingml/2006/main">
              <a:ext uri="{FF2B5EF4-FFF2-40B4-BE49-F238E27FC236}">
                <a16:creationId xmlns:a16="http://schemas.microsoft.com/office/drawing/2014/main" id="{F86CE4E6-5419-4E9F-BFFA-58C62663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성능 ≠ 클럭 하나</a:t>
            </a:r>
          </a:p>
        </p:txBody>
      </p:sp>
    </p:spTree>
    <p:extLst>
      <p:ext uri="{BB962C8B-B14F-4D97-AF65-F5344CB8AC3E}">
        <p14:creationId xmlns:p14="http://schemas.microsoft.com/office/powerpoint/2010/main" val="14547608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2-34">
            <a:extLst xmlns:a="http://schemas.openxmlformats.org/drawingml/2006/main">
              <a:ext uri="{FF2B5EF4-FFF2-40B4-BE49-F238E27FC236}">
                <a16:creationId xmlns:a16="http://schemas.microsoft.com/office/drawing/2014/main" id="{5D567132-B4DF-44A8-B23A-D4106539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주소 변환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CCC14CA3-C5C3-4121-B978-7E949057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MMU와 TLB는 가상 주소를 실제 주소로 연결합니다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A3093BA2-DEBD-49F2-97BD-925502E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21</a:t>
            </a:r>
          </a:p>
        </p:txBody>
      </p:sp>
      <p:sp>
        <p:nvSpPr>
          <p:cNvPr id="4" name="box-42-210">
            <a:extLst xmlns:a="http://schemas.openxmlformats.org/drawingml/2006/main">
              <a:ext uri="{FF2B5EF4-FFF2-40B4-BE49-F238E27FC236}">
                <a16:creationId xmlns:a16="http://schemas.microsoft.com/office/drawing/2014/main" id="{F3D45CCC-AE7F-4864-8A03-E60CB94F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34">
            <a:extLst xmlns:a="http://schemas.openxmlformats.org/drawingml/2006/main">
              <a:ext uri="{FF2B5EF4-FFF2-40B4-BE49-F238E27FC236}">
                <a16:creationId xmlns:a16="http://schemas.microsoft.com/office/drawing/2014/main" id="{12D4187B-8ED1-4C4F-AEB3-7570510E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가상 주소</a:t>
            </a:r>
          </a:p>
        </p:txBody>
      </p:sp>
      <p:sp>
        <p:nvSpPr>
          <p:cNvPr id="6" name="text-66-292">
            <a:extLst xmlns:a="http://schemas.openxmlformats.org/drawingml/2006/main">
              <a:ext uri="{FF2B5EF4-FFF2-40B4-BE49-F238E27FC236}">
                <a16:creationId xmlns:a16="http://schemas.microsoft.com/office/drawing/2014/main" id="{BC091B60-C5BF-4AB1-8961-AD8B2A26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4003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프로그램이 보는 주소</a:t>
            </a:r>
          </a:p>
        </p:txBody>
      </p:sp>
      <p:sp>
        <p:nvSpPr>
          <p:cNvPr id="7" name="box-490-210">
            <a:extLst xmlns:a="http://schemas.openxmlformats.org/drawingml/2006/main">
              <a:ext uri="{FF2B5EF4-FFF2-40B4-BE49-F238E27FC236}">
                <a16:creationId xmlns:a16="http://schemas.microsoft.com/office/drawing/2014/main" id="{601723D7-9A1B-4EFD-9069-0E0B8B6E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514-234">
            <a:extLst xmlns:a="http://schemas.openxmlformats.org/drawingml/2006/main">
              <a:ext uri="{FF2B5EF4-FFF2-40B4-BE49-F238E27FC236}">
                <a16:creationId xmlns:a16="http://schemas.microsoft.com/office/drawing/2014/main" id="{2E8DCF9E-3D0F-4B60-BB2D-A0FCB859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MMU + TLB</a:t>
            </a:r>
          </a:p>
        </p:txBody>
      </p:sp>
      <p:sp>
        <p:nvSpPr>
          <p:cNvPr id="9" name="text-514-292">
            <a:extLst xmlns:a="http://schemas.openxmlformats.org/drawingml/2006/main">
              <a:ext uri="{FF2B5EF4-FFF2-40B4-BE49-F238E27FC236}">
                <a16:creationId xmlns:a16="http://schemas.microsoft.com/office/drawing/2014/main" id="{C846AEA5-5BDC-4F24-BBE9-B63C1884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81300"/>
            <a:ext cx="24003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주소를 변환하고
최근 결과를 기억</a:t>
            </a:r>
          </a:p>
        </p:txBody>
      </p:sp>
      <p:sp>
        <p:nvSpPr>
          <p:cNvPr id="10" name="box-938-210">
            <a:extLst xmlns:a="http://schemas.openxmlformats.org/drawingml/2006/main">
              <a:ext uri="{FF2B5EF4-FFF2-40B4-BE49-F238E27FC236}">
                <a16:creationId xmlns:a16="http://schemas.microsoft.com/office/drawing/2014/main" id="{371689A4-B9E8-4DAB-A401-720686FA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962-234">
            <a:extLst xmlns:a="http://schemas.openxmlformats.org/drawingml/2006/main">
              <a:ext uri="{FF2B5EF4-FFF2-40B4-BE49-F238E27FC236}">
                <a16:creationId xmlns:a16="http://schemas.microsoft.com/office/drawing/2014/main" id="{5A7D9D28-C90F-4AC8-B692-A8462B1D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물리 주소</a:t>
            </a:r>
          </a:p>
        </p:txBody>
      </p:sp>
      <p:sp>
        <p:nvSpPr>
          <p:cNvPr id="12" name="text-962-292">
            <a:extLst xmlns:a="http://schemas.openxmlformats.org/drawingml/2006/main">
              <a:ext uri="{FF2B5EF4-FFF2-40B4-BE49-F238E27FC236}">
                <a16:creationId xmlns:a16="http://schemas.microsoft.com/office/drawing/2014/main" id="{28A9DA52-6A26-4B94-8E68-F1939B99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0193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실제 RAM의 위치</a:t>
            </a:r>
          </a:p>
        </p:txBody>
      </p:sp>
      <p:cxnSp>
        <p:nvCxnSpPr>
          <p:cNvPr id="28" name="line-350-335"/>
          <p:cNvCxnSpPr/>
          <p:nvPr/>
        </p:nvCxnSpPr>
        <p:spPr>
          <a:xfrm xmlns:a="http://schemas.openxmlformats.org/drawingml/2006/main">
            <a:off x="3333750" y="3190875"/>
            <a:ext cx="1143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29" name="line-800-335"/>
          <p:cNvCxnSpPr/>
          <p:nvPr/>
        </p:nvCxnSpPr>
        <p:spPr>
          <a:xfrm xmlns:a="http://schemas.openxmlformats.org/drawingml/2006/main">
            <a:off x="7620000" y="3190875"/>
            <a:ext cx="1143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15" name="text-42-545">
            <a:extLst xmlns:a="http://schemas.openxmlformats.org/drawingml/2006/main">
              <a:ext uri="{FF2B5EF4-FFF2-40B4-BE49-F238E27FC236}">
                <a16:creationId xmlns:a16="http://schemas.microsoft.com/office/drawing/2014/main" id="{FA64D7AB-1E34-45A8-A452-C75F0BE8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TLB Hit: 바로 변환  ·  TLB Miss: 페이지 테이블 확인</a:t>
            </a:r>
          </a:p>
        </p:txBody>
      </p:sp>
    </p:spTree>
    <p:extLst>
      <p:ext uri="{BB962C8B-B14F-4D97-AF65-F5344CB8AC3E}">
        <p14:creationId xmlns:p14="http://schemas.microsoft.com/office/powerpoint/2010/main" val="9957897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2-34">
            <a:extLst xmlns:a="http://schemas.openxmlformats.org/drawingml/2006/main">
              <a:ext uri="{FF2B5EF4-FFF2-40B4-BE49-F238E27FC236}">
                <a16:creationId xmlns:a16="http://schemas.microsoft.com/office/drawing/2014/main" id="{A11FD5B7-1BD8-4FE7-8631-39999603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캐시 일관성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6B2D8F4E-FA6E-4802-A7AA-DA8C634F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멀티코어는 캐시의 복사본을 맞춰야 합니다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467AEC45-FC19-4047-922D-268225AD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22</a:t>
            </a:r>
          </a:p>
        </p:txBody>
      </p:sp>
      <p:sp>
        <p:nvSpPr>
          <p:cNvPr id="4" name="box-42-190">
            <a:extLst xmlns:a="http://schemas.openxmlformats.org/drawingml/2006/main">
              <a:ext uri="{FF2B5EF4-FFF2-40B4-BE49-F238E27FC236}">
                <a16:creationId xmlns:a16="http://schemas.microsoft.com/office/drawing/2014/main" id="{7AFAB49F-ACA0-4DF9-883D-E95ABED2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14">
            <a:extLst xmlns:a="http://schemas.openxmlformats.org/drawingml/2006/main">
              <a:ext uri="{FF2B5EF4-FFF2-40B4-BE49-F238E27FC236}">
                <a16:creationId xmlns:a16="http://schemas.microsoft.com/office/drawing/2014/main" id="{6387DC65-B13C-4642-A3A3-A78F9624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Core 0 Cache</a:t>
            </a:r>
          </a:p>
        </p:txBody>
      </p:sp>
      <p:sp>
        <p:nvSpPr>
          <p:cNvPr id="6" name="text-66-272">
            <a:extLst xmlns:a="http://schemas.openxmlformats.org/drawingml/2006/main">
              <a:ext uri="{FF2B5EF4-FFF2-40B4-BE49-F238E27FC236}">
                <a16:creationId xmlns:a16="http://schemas.microsoft.com/office/drawing/2014/main" id="{5F917ADB-CB28-43FA-A300-8641FF6F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87655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value = 10</a:t>
            </a:r>
          </a:p>
        </p:txBody>
      </p:sp>
      <p:sp>
        <p:nvSpPr>
          <p:cNvPr id="7" name="box-465-190">
            <a:extLst xmlns:a="http://schemas.openxmlformats.org/drawingml/2006/main">
              <a:ext uri="{FF2B5EF4-FFF2-40B4-BE49-F238E27FC236}">
                <a16:creationId xmlns:a16="http://schemas.microsoft.com/office/drawing/2014/main" id="{E00D07B4-172A-4F1F-A813-56D05261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489-214">
            <a:extLst xmlns:a="http://schemas.openxmlformats.org/drawingml/2006/main">
              <a:ext uri="{FF2B5EF4-FFF2-40B4-BE49-F238E27FC236}">
                <a16:creationId xmlns:a16="http://schemas.microsoft.com/office/drawing/2014/main" id="{6FE2FC63-CC06-4136-A327-BDBE1CA6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3835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Core 1 Cache</a:t>
            </a:r>
          </a:p>
        </p:txBody>
      </p:sp>
      <p:sp>
        <p:nvSpPr>
          <p:cNvPr id="9" name="text-489-272">
            <a:extLst xmlns:a="http://schemas.openxmlformats.org/drawingml/2006/main">
              <a:ext uri="{FF2B5EF4-FFF2-40B4-BE49-F238E27FC236}">
                <a16:creationId xmlns:a16="http://schemas.microsoft.com/office/drawing/2014/main" id="{549A1D6C-73C8-4AFC-9A95-45EB4FFE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90800"/>
            <a:ext cx="287655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value = 10</a:t>
            </a:r>
          </a:p>
        </p:txBody>
      </p:sp>
      <p:sp>
        <p:nvSpPr>
          <p:cNvPr id="10" name="box-888-190">
            <a:extLst xmlns:a="http://schemas.openxmlformats.org/drawingml/2006/main">
              <a:ext uri="{FF2B5EF4-FFF2-40B4-BE49-F238E27FC236}">
                <a16:creationId xmlns:a16="http://schemas.microsoft.com/office/drawing/2014/main" id="{3FBDC324-09B0-4A1E-9CBA-17BB1C62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2952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912-214">
            <a:extLst xmlns:a="http://schemas.openxmlformats.org/drawingml/2006/main">
              <a:ext uri="{FF2B5EF4-FFF2-40B4-BE49-F238E27FC236}">
                <a16:creationId xmlns:a16="http://schemas.microsoft.com/office/drawing/2014/main" id="{1E5A6007-37B8-47CF-A60A-203C85C1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RAM</a:t>
            </a:r>
          </a:p>
        </p:txBody>
      </p:sp>
      <p:sp>
        <p:nvSpPr>
          <p:cNvPr id="12" name="text-912-272">
            <a:extLst xmlns:a="http://schemas.openxmlformats.org/drawingml/2006/main">
              <a:ext uri="{FF2B5EF4-FFF2-40B4-BE49-F238E27FC236}">
                <a16:creationId xmlns:a16="http://schemas.microsoft.com/office/drawing/2014/main" id="{FA48B97D-FD3E-4325-9B54-D674BC10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90800"/>
            <a:ext cx="249555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value = 10</a:t>
            </a:r>
          </a:p>
        </p:txBody>
      </p:sp>
      <p:cxnSp>
        <p:nvCxnSpPr>
          <p:cNvPr id="29" name="line-390-330"/>
          <p:cNvCxnSpPr/>
          <p:nvPr/>
        </p:nvCxnSpPr>
        <p:spPr>
          <a:xfrm xmlns:a="http://schemas.openxmlformats.org/drawingml/2006/main">
            <a:off x="3714750" y="3143250"/>
            <a:ext cx="5715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30" name="line-818-330"/>
          <p:cNvCxnSpPr/>
          <p:nvPr/>
        </p:nvCxnSpPr>
        <p:spPr>
          <a:xfrm xmlns:a="http://schemas.openxmlformats.org/drawingml/2006/main">
            <a:off x="7791450" y="3143250"/>
            <a:ext cx="5715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15" name="box-180-525">
            <a:extLst xmlns:a="http://schemas.openxmlformats.org/drawingml/2006/main">
              <a:ext uri="{FF2B5EF4-FFF2-40B4-BE49-F238E27FC236}">
                <a16:creationId xmlns:a16="http://schemas.microsoft.com/office/drawing/2014/main" id="{92878C58-18B8-4BB7-BDB7-79202C39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57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ECAC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text-205-548">
            <a:extLst xmlns:a="http://schemas.openxmlformats.org/drawingml/2006/main">
              <a:ext uri="{FF2B5EF4-FFF2-40B4-BE49-F238E27FC236}">
                <a16:creationId xmlns:a16="http://schemas.microsoft.com/office/drawing/2014/main" id="{F7325EFB-C029-437D-8698-A83DEE7E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9700"/>
            <a:ext cx="809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Core 0이 값을 바꾸면 Core 1의 복사본도 낡았음을 알아야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5050991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2-34">
            <a:extLst xmlns:a="http://schemas.openxmlformats.org/drawingml/2006/main">
              <a:ext uri="{FF2B5EF4-FFF2-40B4-BE49-F238E27FC236}">
                <a16:creationId xmlns:a16="http://schemas.microsoft.com/office/drawing/2014/main" id="{363E3A6B-D156-4CF9-ABA6-9E1B769A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SMT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E05B151D-5FED-4D2B-AD63-6C20B72E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6코어 12스레드는 코어가 12개라는 뜻이 아닙니다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FD5EF830-E177-48C5-B385-858986A6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23</a:t>
            </a:r>
          </a:p>
        </p:txBody>
      </p:sp>
      <p:sp>
        <p:nvSpPr>
          <p:cNvPr id="4" name="box-42-190">
            <a:extLst xmlns:a="http://schemas.openxmlformats.org/drawingml/2006/main">
              <a:ext uri="{FF2B5EF4-FFF2-40B4-BE49-F238E27FC236}">
                <a16:creationId xmlns:a16="http://schemas.microsoft.com/office/drawing/2014/main" id="{39296DC5-ED80-4C80-8909-DA0FDC8B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214">
            <a:extLst xmlns:a="http://schemas.openxmlformats.org/drawingml/2006/main">
              <a:ext uri="{FF2B5EF4-FFF2-40B4-BE49-F238E27FC236}">
                <a16:creationId xmlns:a16="http://schemas.microsoft.com/office/drawing/2014/main" id="{78EA27C5-8CCE-4C2D-A5BF-7AAECE5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449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물리 코어 6개</a:t>
            </a:r>
          </a:p>
        </p:txBody>
      </p:sp>
      <p:sp>
        <p:nvSpPr>
          <p:cNvPr id="6" name="text-66-272">
            <a:extLst xmlns:a="http://schemas.openxmlformats.org/drawingml/2006/main">
              <a:ext uri="{FF2B5EF4-FFF2-40B4-BE49-F238E27FC236}">
                <a16:creationId xmlns:a16="http://schemas.microsoft.com/office/drawing/2014/main" id="{CBCF571F-1242-4A45-8856-E30EABB8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449580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실제 실행 유닛을 가진
작업자 6명</a:t>
            </a:r>
          </a:p>
        </p:txBody>
      </p:sp>
      <p:sp>
        <p:nvSpPr>
          <p:cNvPr id="7" name="box-638-190">
            <a:extLst xmlns:a="http://schemas.openxmlformats.org/drawingml/2006/main">
              <a:ext uri="{FF2B5EF4-FFF2-40B4-BE49-F238E27FC236}">
                <a16:creationId xmlns:a16="http://schemas.microsoft.com/office/drawing/2014/main" id="{E7C27396-B76F-4C17-A664-934F95A5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662-214">
            <a:extLst xmlns:a="http://schemas.openxmlformats.org/drawingml/2006/main">
              <a:ext uri="{FF2B5EF4-FFF2-40B4-BE49-F238E27FC236}">
                <a16:creationId xmlns:a16="http://schemas.microsoft.com/office/drawing/2014/main" id="{210BB6B5-A5C9-4929-98E4-53DCEAB1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4876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논리 스레드 12개</a:t>
            </a:r>
          </a:p>
        </p:txBody>
      </p:sp>
      <p:sp>
        <p:nvSpPr>
          <p:cNvPr id="9" name="text-662-272">
            <a:extLst xmlns:a="http://schemas.openxmlformats.org/drawingml/2006/main">
              <a:ext uri="{FF2B5EF4-FFF2-40B4-BE49-F238E27FC236}">
                <a16:creationId xmlns:a16="http://schemas.microsoft.com/office/drawing/2014/main" id="{9B3FF809-1B3B-4683-BEB4-00C56349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487680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각 코어가 두 작업 흐름의
빈 시간을 나눠 활용</a:t>
            </a:r>
          </a:p>
        </p:txBody>
      </p:sp>
      <p:sp>
        <p:nvSpPr>
          <p:cNvPr id="10" name="text-42-580">
            <a:extLst xmlns:a="http://schemas.openxmlformats.org/drawingml/2006/main">
              <a:ext uri="{FF2B5EF4-FFF2-40B4-BE49-F238E27FC236}">
                <a16:creationId xmlns:a16="http://schemas.microsoft.com/office/drawing/2014/main" id="{783EBD88-0594-4DD0-86EC-27F8FFB5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953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실행 자원을 공유하므로 성능이 정확히 두 배가 되지는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5353360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42-34">
            <a:extLst xmlns:a="http://schemas.openxmlformats.org/drawingml/2006/main">
              <a:ext uri="{FF2B5EF4-FFF2-40B4-BE49-F238E27FC236}">
                <a16:creationId xmlns:a16="http://schemas.microsoft.com/office/drawing/2014/main" id="{2C970688-1830-473C-81EA-F4518A5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전체 흐름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1068FD7B-A040-4E41-9F2A-9C29F26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코드 한 줄이 CPU를 통과하는 순서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E2559CA5-ED28-4490-BC12-1EE3B58E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24</a:t>
            </a:r>
          </a:p>
        </p:txBody>
      </p:sp>
      <p:sp>
        <p:nvSpPr>
          <p:cNvPr id="4" name="box-42-170">
            <a:extLst xmlns:a="http://schemas.openxmlformats.org/drawingml/2006/main">
              <a:ext uri="{FF2B5EF4-FFF2-40B4-BE49-F238E27FC236}">
                <a16:creationId xmlns:a16="http://schemas.microsoft.com/office/drawing/2014/main" id="{266D2D94-39DB-4605-9E79-EA839619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text-66-194">
            <a:extLst xmlns:a="http://schemas.openxmlformats.org/drawingml/2006/main">
              <a:ext uri="{FF2B5EF4-FFF2-40B4-BE49-F238E27FC236}">
                <a16:creationId xmlns:a16="http://schemas.microsoft.com/office/drawing/2014/main" id="{F5D03931-E97B-4DC3-AE4F-A4859B14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1. 인출</a:t>
            </a:r>
          </a:p>
        </p:txBody>
      </p:sp>
      <p:sp>
        <p:nvSpPr>
          <p:cNvPr id="6" name="text-66-252">
            <a:extLst xmlns:a="http://schemas.openxmlformats.org/drawingml/2006/main">
              <a:ext uri="{FF2B5EF4-FFF2-40B4-BE49-F238E27FC236}">
                <a16:creationId xmlns:a16="http://schemas.microsoft.com/office/drawing/2014/main" id="{FDF19F29-5811-42C9-825F-77F3DE3C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0193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PC → L1 명령어 캐시</a:t>
            </a:r>
          </a:p>
        </p:txBody>
      </p:sp>
      <p:sp>
        <p:nvSpPr>
          <p:cNvPr id="7" name="box-322-170">
            <a:extLst xmlns:a="http://schemas.openxmlformats.org/drawingml/2006/main">
              <a:ext uri="{FF2B5EF4-FFF2-40B4-BE49-F238E27FC236}">
                <a16:creationId xmlns:a16="http://schemas.microsoft.com/office/drawing/2014/main" id="{27193D8D-A422-4538-A576-DC07DE98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19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text-346-194">
            <a:extLst xmlns:a="http://schemas.openxmlformats.org/drawingml/2006/main">
              <a:ext uri="{FF2B5EF4-FFF2-40B4-BE49-F238E27FC236}">
                <a16:creationId xmlns:a16="http://schemas.microsoft.com/office/drawing/2014/main" id="{C212384E-C01E-43B4-AB83-57FFCC47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47850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2. 해석</a:t>
            </a:r>
          </a:p>
        </p:txBody>
      </p:sp>
      <p:sp>
        <p:nvSpPr>
          <p:cNvPr id="9" name="text-346-252">
            <a:extLst xmlns:a="http://schemas.openxmlformats.org/drawingml/2006/main">
              <a:ext uri="{FF2B5EF4-FFF2-40B4-BE49-F238E27FC236}">
                <a16:creationId xmlns:a16="http://schemas.microsoft.com/office/drawing/2014/main" id="{AE88B621-6029-4C8A-94C6-851D01AD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20193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02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디코더가 연산으로 변환</a:t>
            </a:r>
          </a:p>
        </p:txBody>
      </p:sp>
      <p:sp>
        <p:nvSpPr>
          <p:cNvPr id="10" name="box-602-170">
            <a:extLst xmlns:a="http://schemas.openxmlformats.org/drawingml/2006/main">
              <a:ext uri="{FF2B5EF4-FFF2-40B4-BE49-F238E27FC236}">
                <a16:creationId xmlns:a16="http://schemas.microsoft.com/office/drawing/2014/main" id="{3F895D6A-C318-4B5A-8252-8C6CFCEA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19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text-626-194">
            <a:extLst xmlns:a="http://schemas.openxmlformats.org/drawingml/2006/main">
              <a:ext uri="{FF2B5EF4-FFF2-40B4-BE49-F238E27FC236}">
                <a16:creationId xmlns:a16="http://schemas.microsoft.com/office/drawing/2014/main" id="{98E07A1D-0D59-4A70-9D22-4B06A416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47850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3. 준비</a:t>
            </a:r>
          </a:p>
        </p:txBody>
      </p:sp>
      <p:sp>
        <p:nvSpPr>
          <p:cNvPr id="12" name="text-626-252">
            <a:extLst xmlns:a="http://schemas.openxmlformats.org/drawingml/2006/main">
              <a:ext uri="{FF2B5EF4-FFF2-40B4-BE49-F238E27FC236}">
                <a16:creationId xmlns:a16="http://schemas.microsoft.com/office/drawing/2014/main" id="{5E00E776-966D-4087-947D-8178E097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20193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a와 b를 레지스터에</a:t>
            </a:r>
          </a:p>
        </p:txBody>
      </p:sp>
      <p:sp>
        <p:nvSpPr>
          <p:cNvPr id="13" name="box-882-170">
            <a:extLst xmlns:a="http://schemas.openxmlformats.org/drawingml/2006/main">
              <a:ext uri="{FF2B5EF4-FFF2-40B4-BE49-F238E27FC236}">
                <a16:creationId xmlns:a16="http://schemas.microsoft.com/office/drawing/2014/main" id="{48A3A508-C18A-41E6-8170-3F0F517B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19250"/>
            <a:ext cx="3009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text-906-194">
            <a:extLst xmlns:a="http://schemas.openxmlformats.org/drawingml/2006/main">
              <a:ext uri="{FF2B5EF4-FFF2-40B4-BE49-F238E27FC236}">
                <a16:creationId xmlns:a16="http://schemas.microsoft.com/office/drawing/2014/main" id="{45D35036-759D-49B1-B846-EC52DB76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47850"/>
            <a:ext cx="2552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4. 실행</a:t>
            </a:r>
          </a:p>
        </p:txBody>
      </p:sp>
      <p:sp>
        <p:nvSpPr>
          <p:cNvPr id="15" name="text-906-252">
            <a:extLst xmlns:a="http://schemas.openxmlformats.org/drawingml/2006/main">
              <a:ext uri="{FF2B5EF4-FFF2-40B4-BE49-F238E27FC236}">
                <a16:creationId xmlns:a16="http://schemas.microsoft.com/office/drawing/2014/main" id="{39BE1766-4238-412E-9F91-927CB149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ALU가 더하기</a:t>
            </a:r>
          </a:p>
        </p:txBody>
      </p:sp>
      <p:sp>
        <p:nvSpPr>
          <p:cNvPr id="16" name="box-182-390">
            <a:extLst xmlns:a="http://schemas.openxmlformats.org/drawingml/2006/main">
              <a:ext uri="{FF2B5EF4-FFF2-40B4-BE49-F238E27FC236}">
                <a16:creationId xmlns:a16="http://schemas.microsoft.com/office/drawing/2014/main" id="{758456CC-7375-43A6-8E39-EA5EB9E6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147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A5F3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text-206-414">
            <a:extLst xmlns:a="http://schemas.openxmlformats.org/drawingml/2006/main">
              <a:ext uri="{FF2B5EF4-FFF2-40B4-BE49-F238E27FC236}">
                <a16:creationId xmlns:a16="http://schemas.microsoft.com/office/drawing/2014/main" id="{2682874F-60A4-4EEE-9D89-E6356FFB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43350"/>
            <a:ext cx="2971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5. 기록</a:t>
            </a:r>
          </a:p>
        </p:txBody>
      </p:sp>
      <p:sp>
        <p:nvSpPr>
          <p:cNvPr id="18" name="text-206-472">
            <a:extLst xmlns:a="http://schemas.openxmlformats.org/drawingml/2006/main">
              <a:ext uri="{FF2B5EF4-FFF2-40B4-BE49-F238E27FC236}">
                <a16:creationId xmlns:a16="http://schemas.microsoft.com/office/drawing/2014/main" id="{448A23DE-6981-4DC8-953B-79828D62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95800"/>
            <a:ext cx="2971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결과를 레지스터에 저장</a:t>
            </a:r>
          </a:p>
        </p:txBody>
      </p:sp>
      <p:sp>
        <p:nvSpPr>
          <p:cNvPr id="19" name="box-662-390">
            <a:extLst xmlns:a="http://schemas.openxmlformats.org/drawingml/2006/main">
              <a:ext uri="{FF2B5EF4-FFF2-40B4-BE49-F238E27FC236}">
                <a16:creationId xmlns:a16="http://schemas.microsoft.com/office/drawing/2014/main" id="{C34B4230-6ED7-4BBA-882F-37A9AE61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text-686-414">
            <a:extLst xmlns:a="http://schemas.openxmlformats.org/drawingml/2006/main">
              <a:ext uri="{FF2B5EF4-FFF2-40B4-BE49-F238E27FC236}">
                <a16:creationId xmlns:a16="http://schemas.microsoft.com/office/drawing/2014/main" id="{3CC1C6FB-67E8-47C0-9004-78B532F6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2971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6. 다음 명령</a:t>
            </a:r>
          </a:p>
        </p:txBody>
      </p:sp>
      <p:sp>
        <p:nvSpPr>
          <p:cNvPr id="21" name="text-686-472">
            <a:extLst xmlns:a="http://schemas.openxmlformats.org/drawingml/2006/main">
              <a:ext uri="{FF2B5EF4-FFF2-40B4-BE49-F238E27FC236}">
                <a16:creationId xmlns:a16="http://schemas.microsoft.com/office/drawing/2014/main" id="{3D950BB1-26E0-4909-9F32-BF5ADE0F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95800"/>
            <a:ext cx="2971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PC가 다음 위치로 이동</a:t>
            </a:r>
          </a:p>
        </p:txBody>
      </p:sp>
      <p:sp>
        <p:nvSpPr>
          <p:cNvPr id="22" name="text-42-590">
            <a:extLst xmlns:a="http://schemas.openxmlformats.org/drawingml/2006/main">
              <a:ext uri="{FF2B5EF4-FFF2-40B4-BE49-F238E27FC236}">
                <a16:creationId xmlns:a16="http://schemas.microsoft.com/office/drawing/2014/main" id="{EF348EDA-FA02-4644-84C1-6CDED363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실제로는 여러 명령어의 단계가 동시에 진행됩니다.</a:t>
            </a:r>
          </a:p>
        </p:txBody>
      </p:sp>
    </p:spTree>
    <p:extLst>
      <p:ext uri="{BB962C8B-B14F-4D97-AF65-F5344CB8AC3E}">
        <p14:creationId xmlns:p14="http://schemas.microsoft.com/office/powerpoint/2010/main" val="9839878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2-34">
            <a:extLst xmlns:a="http://schemas.openxmlformats.org/drawingml/2006/main">
              <a:ext uri="{FF2B5EF4-FFF2-40B4-BE49-F238E27FC236}">
                <a16:creationId xmlns:a16="http://schemas.microsoft.com/office/drawing/2014/main" id="{85D06BE0-1D2D-4949-99F4-10305B66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퀴즈 2</a:t>
            </a:r>
          </a:p>
        </p:txBody>
      </p:sp>
      <p:sp>
        <p:nvSpPr>
          <p:cNvPr id="2" name="text-42-75">
            <a:extLst xmlns:a="http://schemas.openxmlformats.org/drawingml/2006/main">
              <a:ext uri="{FF2B5EF4-FFF2-40B4-BE49-F238E27FC236}">
                <a16:creationId xmlns:a16="http://schemas.microsoft.com/office/drawing/2014/main" id="{8B22B98E-1AD5-40ED-AB4D-8BDAA0CA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114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마지막 확인: 빈칸을 채워 보세요</a:t>
            </a:r>
          </a:p>
        </p:txBody>
      </p:sp>
      <p:sp>
        <p:nvSpPr>
          <p:cNvPr id="3" name="text-1180-664">
            <a:extLst xmlns:a="http://schemas.openxmlformats.org/drawingml/2006/main">
              <a:ext uri="{FF2B5EF4-FFF2-40B4-BE49-F238E27FC236}">
                <a16:creationId xmlns:a16="http://schemas.microsoft.com/office/drawing/2014/main" id="{CC7A58DE-1F14-4DAD-86B4-E786677D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25</a:t>
            </a:r>
          </a:p>
        </p:txBody>
      </p:sp>
      <p:sp>
        <p:nvSpPr>
          <p:cNvPr id="4" name="text-70-190">
            <a:extLst xmlns:a="http://schemas.openxmlformats.org/drawingml/2006/main">
              <a:ext uri="{FF2B5EF4-FFF2-40B4-BE49-F238E27FC236}">
                <a16:creationId xmlns:a16="http://schemas.microsoft.com/office/drawing/2014/main" id="{B29E8DE8-BD5F-47B5-98DC-F6C21FD9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CPU는 명령어를</a:t>
            </a:r>
          </a:p>
        </p:txBody>
      </p:sp>
      <p:sp>
        <p:nvSpPr>
          <p:cNvPr id="5" name="box-420-180">
            <a:extLst xmlns:a="http://schemas.openxmlformats.org/drawingml/2006/main">
              <a:ext uri="{FF2B5EF4-FFF2-40B4-BE49-F238E27FC236}">
                <a16:creationId xmlns:a16="http://schemas.microsoft.com/office/drawing/2014/main" id="{801C67ED-78E6-4B28-9D11-E1057DA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text-420-198">
            <a:extLst xmlns:a="http://schemas.openxmlformats.org/drawingml/2006/main">
              <a:ext uri="{FF2B5EF4-FFF2-40B4-BE49-F238E27FC236}">
                <a16:creationId xmlns:a16="http://schemas.microsoft.com/office/drawing/2014/main" id="{DA9CD814-21FF-48E5-91FC-69FACAE6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2286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가져오고</a:t>
            </a:r>
          </a:p>
        </p:txBody>
      </p:sp>
      <p:sp>
        <p:nvSpPr>
          <p:cNvPr id="7" name="text-70-310">
            <a:extLst xmlns:a="http://schemas.openxmlformats.org/drawingml/2006/main">
              <a:ext uri="{FF2B5EF4-FFF2-40B4-BE49-F238E27FC236}">
                <a16:creationId xmlns:a16="http://schemas.microsoft.com/office/drawing/2014/main" id="{2B3B141C-FD24-4E03-8562-1A8A6A62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143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그 뜻을</a:t>
            </a:r>
          </a:p>
        </p:txBody>
      </p:sp>
      <p:sp>
        <p:nvSpPr>
          <p:cNvPr id="8" name="box-420-300">
            <a:extLst xmlns:a="http://schemas.openxmlformats.org/drawingml/2006/main">
              <a:ext uri="{FF2B5EF4-FFF2-40B4-BE49-F238E27FC236}">
                <a16:creationId xmlns:a16="http://schemas.microsoft.com/office/drawing/2014/main" id="{10B6AB2E-5F56-4701-BB9A-39BD296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text-420-318">
            <a:extLst xmlns:a="http://schemas.openxmlformats.org/drawingml/2006/main">
              <a:ext uri="{FF2B5EF4-FFF2-40B4-BE49-F238E27FC236}">
                <a16:creationId xmlns:a16="http://schemas.microsoft.com/office/drawing/2014/main" id="{362C3714-8290-4FDB-A4AD-A91B4ACC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2286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해석하고</a:t>
            </a:r>
          </a:p>
        </p:txBody>
      </p:sp>
      <p:sp>
        <p:nvSpPr>
          <p:cNvPr id="10" name="text-70-430">
            <a:extLst xmlns:a="http://schemas.openxmlformats.org/drawingml/2006/main">
              <a:ext uri="{FF2B5EF4-FFF2-40B4-BE49-F238E27FC236}">
                <a16:creationId xmlns:a16="http://schemas.microsoft.com/office/drawing/2014/main" id="{3092B41E-DE55-4020-8BB2-7B8E0E3F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143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실제 작업을</a:t>
            </a:r>
          </a:p>
        </p:txBody>
      </p:sp>
      <p:sp>
        <p:nvSpPr>
          <p:cNvPr id="11" name="box-420-420">
            <a:extLst xmlns:a="http://schemas.openxmlformats.org/drawingml/2006/main">
              <a:ext uri="{FF2B5EF4-FFF2-40B4-BE49-F238E27FC236}">
                <a16:creationId xmlns:a16="http://schemas.microsoft.com/office/drawing/2014/main" id="{27E0C4FC-5F99-476E-9B7A-D940D9C9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text-420-438">
            <a:extLst xmlns:a="http://schemas.openxmlformats.org/drawingml/2006/main">
              <a:ext uri="{FF2B5EF4-FFF2-40B4-BE49-F238E27FC236}">
                <a16:creationId xmlns:a16="http://schemas.microsoft.com/office/drawing/2014/main" id="{371B8607-C870-439A-AF2A-4E4D781D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71950"/>
            <a:ext cx="2286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실행합니다</a:t>
            </a:r>
          </a:p>
        </p:txBody>
      </p:sp>
      <p:sp>
        <p:nvSpPr>
          <p:cNvPr id="13" name="text-760-210">
            <a:extLst xmlns:a="http://schemas.openxmlformats.org/drawingml/2006/main">
              <a:ext uri="{FF2B5EF4-FFF2-40B4-BE49-F238E27FC236}">
                <a16:creationId xmlns:a16="http://schemas.microsoft.com/office/drawing/2014/main" id="{4D4DB663-0B7E-4513-BCA1-D990285B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810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캐시는 왜 필요할까요?</a:t>
            </a:r>
          </a:p>
        </p:txBody>
      </p:sp>
      <p:sp>
        <p:nvSpPr>
          <p:cNvPr id="14" name="text-760-310">
            <a:extLst xmlns:a="http://schemas.openxmlformats.org/drawingml/2006/main">
              <a:ext uri="{FF2B5EF4-FFF2-40B4-BE49-F238E27FC236}">
                <a16:creationId xmlns:a16="http://schemas.microsoft.com/office/drawing/2014/main" id="{C6BB957A-B927-42E2-A29B-F7F9DC9F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810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CPU와 RAM의
속도 차이를 줄이기 위해서</a:t>
            </a:r>
          </a:p>
        </p:txBody>
      </p:sp>
      <p:sp>
        <p:nvSpPr>
          <p:cNvPr id="15" name="text-760-520">
            <a:extLst xmlns:a="http://schemas.openxmlformats.org/drawingml/2006/main">
              <a:ext uri="{FF2B5EF4-FFF2-40B4-BE49-F238E27FC236}">
                <a16:creationId xmlns:a16="http://schemas.microsoft.com/office/drawing/2014/main" id="{C3DB270F-E041-4E45-AF2E-D3B0D3E1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옆 사람에게 30초 동안 설명해 보세요.</a:t>
            </a:r>
          </a:p>
        </p:txBody>
      </p:sp>
    </p:spTree>
    <p:extLst>
      <p:ext uri="{BB962C8B-B14F-4D97-AF65-F5344CB8AC3E}">
        <p14:creationId xmlns:p14="http://schemas.microsoft.com/office/powerpoint/2010/main" val="19125197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2-38">
            <a:extLst xmlns:a="http://schemas.openxmlformats.org/drawingml/2006/main">
              <a:ext uri="{FF2B5EF4-FFF2-40B4-BE49-F238E27FC236}">
                <a16:creationId xmlns:a16="http://schemas.microsoft.com/office/drawing/2014/main" id="{FB2BDC27-2CC7-4CD1-876D-073EBE3A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오늘의 결론</a:t>
            </a:r>
          </a:p>
        </p:txBody>
      </p:sp>
      <p:sp>
        <p:nvSpPr>
          <p:cNvPr id="2" name="text-42-170">
            <a:extLst xmlns:a="http://schemas.openxmlformats.org/drawingml/2006/main">
              <a:ext uri="{FF2B5EF4-FFF2-40B4-BE49-F238E27FC236}">
                <a16:creationId xmlns:a16="http://schemas.microsoft.com/office/drawing/2014/main" id="{4E852ECB-C40D-4B9D-8EBA-4EA5EB8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95375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CPU는 혼자 빠른 부품이 아니라
여러 장치가 협력하는 시스템입니다</a:t>
            </a:r>
          </a:p>
        </p:txBody>
      </p:sp>
      <p:sp>
        <p:nvSpPr>
          <p:cNvPr id="3" name="text-42-430">
            <a:extLst xmlns:a="http://schemas.openxmlformats.org/drawingml/2006/main">
              <a:ext uri="{FF2B5EF4-FFF2-40B4-BE49-F238E27FC236}">
                <a16:creationId xmlns:a16="http://schemas.microsoft.com/office/drawing/2014/main" id="{0BBD81EB-256E-4FF3-B42F-D615EF8C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762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Fetch → Decode → Execute</a:t>
            </a:r>
          </a:p>
        </p:txBody>
      </p:sp>
      <p:sp>
        <p:nvSpPr>
          <p:cNvPr id="4" name="text-42-535">
            <a:extLst xmlns:a="http://schemas.openxmlformats.org/drawingml/2006/main">
              <a:ext uri="{FF2B5EF4-FFF2-40B4-BE49-F238E27FC236}">
                <a16:creationId xmlns:a16="http://schemas.microsoft.com/office/drawing/2014/main" id="{8CEDD82F-2BB7-4357-AC6F-E6DB45E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066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t>레지스터 · 실행 유닛 · 캐시 · 파이프라인 · 코어가 함께 움직입니다.</a:t>
            </a:r>
          </a:p>
        </p:txBody>
      </p:sp>
      <p:sp>
        <p:nvSpPr>
          <p:cNvPr id="5" name="text-42-625">
            <a:extLst xmlns:a="http://schemas.openxmlformats.org/drawingml/2006/main">
              <a:ext uri="{FF2B5EF4-FFF2-40B4-BE49-F238E27FC236}">
                <a16:creationId xmlns:a16="http://schemas.microsoft.com/office/drawing/2014/main" id="{C37D15C6-E9DC-47F2-A018-B307CF95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905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t>질문과 함께 마무리해 봅시다.</a:t>
            </a:r>
          </a:p>
        </p:txBody>
      </p:sp>
    </p:spTree>
    <p:extLst>
      <p:ext uri="{BB962C8B-B14F-4D97-AF65-F5344CB8AC3E}">
        <p14:creationId xmlns:p14="http://schemas.microsoft.com/office/powerpoint/2010/main" val="110104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2026-07-20T05:10:01.3100000Z</dcterms:created>
  <dcterms:modified xsi:type="dcterms:W3CDTF">2026-07-20T05:10:01.3100000Z</dcterms:modified>
</coreProperties>
</file>